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18.png"/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6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7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High-Frequency Finance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Protecting Speed-Sensitive Platforms from Manipulation and Disruption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Cloud Cyber Security  |  EduQual Level 3  |  Topic 32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Ecosystem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&amp; algorithmic trading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77440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896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487168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Landscape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487168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integrity risks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0288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0288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896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7488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00016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00016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ELK anomaly detection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03136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896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0336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12864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Comms &amp; Access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912864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TLS, mTLS, RBAC, MFA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64592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64592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219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1792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274320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gateways, VLAN, NVMe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377440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377440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222199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2487168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2487168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Kafka streaming, Kibana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590288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90288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221992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47488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4700016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4700016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switch, failover, post-mortem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6803136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803136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2221992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260336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6912864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 &amp; Governance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6912864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SCI, MiFID II, RACI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164592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164592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547872"/>
            <a:ext cx="274320" cy="27432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621792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56" name="Text 45"/>
          <p:cNvSpPr/>
          <p:nvPr/>
        </p:nvSpPr>
        <p:spPr>
          <a:xfrm>
            <a:off x="274320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Architecture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274320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diagram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2377440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48"/>
          <p:cNvSpPr/>
          <p:nvPr/>
        </p:nvSpPr>
        <p:spPr>
          <a:xfrm>
            <a:off x="2377440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7168" y="3547872"/>
            <a:ext cx="274320" cy="27432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2834640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Text 50"/>
          <p:cNvSpPr/>
          <p:nvPr/>
        </p:nvSpPr>
        <p:spPr>
          <a:xfrm>
            <a:off x="2487168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&amp; Recovery</a:t>
            </a:r>
            <a:endParaRPr lang="en-US" sz="1050" dirty="0"/>
          </a:p>
        </p:txBody>
      </p:sp>
      <p:sp>
        <p:nvSpPr>
          <p:cNvPr id="63" name="Text 51"/>
          <p:cNvSpPr/>
          <p:nvPr/>
        </p:nvSpPr>
        <p:spPr>
          <a:xfrm>
            <a:off x="2487168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response flow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590288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53"/>
          <p:cNvSpPr/>
          <p:nvPr/>
        </p:nvSpPr>
        <p:spPr>
          <a:xfrm>
            <a:off x="4590288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3547872"/>
            <a:ext cx="274320" cy="274320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5047488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68" name="Text 55"/>
          <p:cNvSpPr/>
          <p:nvPr/>
        </p:nvSpPr>
        <p:spPr>
          <a:xfrm>
            <a:off x="4700016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2010 Flash Crash</a:t>
            </a:r>
            <a:endParaRPr lang="en-US" sz="1050" dirty="0"/>
          </a:p>
        </p:txBody>
      </p:sp>
      <p:sp>
        <p:nvSpPr>
          <p:cNvPr id="69" name="Text 56"/>
          <p:cNvSpPr/>
          <p:nvPr/>
        </p:nvSpPr>
        <p:spPr>
          <a:xfrm>
            <a:off x="4700016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applied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6803136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6803136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3547872"/>
            <a:ext cx="274320" cy="274320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7260336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74" name="Text 60"/>
          <p:cNvSpPr/>
          <p:nvPr/>
        </p:nvSpPr>
        <p:spPr>
          <a:xfrm>
            <a:off x="6912864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050" dirty="0"/>
          </a:p>
        </p:txBody>
      </p:sp>
      <p:sp>
        <p:nvSpPr>
          <p:cNvPr id="75" name="Text 61"/>
          <p:cNvSpPr/>
          <p:nvPr/>
        </p:nvSpPr>
        <p:spPr>
          <a:xfrm>
            <a:off x="6912864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AND ALGORITHMIC TRADING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875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Definition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that uses powerful computers to execute thousands to millions of orders per second at microsecond speeds — faster than a human blink.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8755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Trading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Programs that automatically trade based on predefined instructions (price, timing, volume). No human intervention — pure code decisions.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8755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Security Matters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latency injection, data tampering, or unauthorized access can cause cascading failures worth billions in seconds. Security is mission-critical.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7432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 µs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7432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speed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20040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50%+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320040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equities volume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2648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12648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12648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Uptime requirement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THREAT LANDSCAPE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9418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Attacks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92608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Weaponizing time — injecting microsecond delays to make competitors' data obsolete, gaining unfair market advantage.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2968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9418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Tampering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82696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Poisoning price/volume feeds — unauthorized changes trigger wrong algorithmic decisions, causing flash crashes.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9418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DDoS Attacks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72784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Flooding trading infrastructure with traffic, causing system downtime and financial losses within seconds.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82880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2880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9992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Man-in-the-Middle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292608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Intercepting trading communications between exchange and firm — exposing sensitive order data and strategies.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72968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29992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75888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Access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282696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 credentials allow fraudulent trades or theft of proprietary trading algorithms.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63056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99923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Theft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72784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Exfiltration of trading algorithms — IP theft giving competitors an illegal edge and regulatory exposure.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 &amp; ANOMALY DETECTION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8961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64592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ticks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orders, quotes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490472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961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645920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+ SASL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High-throughput broker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971800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27248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8961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27248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127248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Parse, transform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enrichment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453128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08576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89611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608576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&amp; store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searching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5934456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89904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896112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89904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089904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&amp; alerts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7415784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71232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896112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71232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7571232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Auto-disconnect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 algo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LOGIC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16459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5895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5895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401568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3774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3774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watches latency &amp; volume in real-time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194767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254203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254203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3401568"/>
            <a:ext cx="411480" cy="4114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02082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202082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breach? Abnormal pattern? Suspicious access?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373075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32511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32511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5112" y="3401568"/>
            <a:ext cx="411480" cy="4114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380390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380390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fired via Elasticsearch Watcher rules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551383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6108192" y="2907792"/>
            <a:ext cx="411480" cy="4114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610819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3401568"/>
            <a:ext cx="411480" cy="4114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58698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558698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instantly disconnected</a:t>
            </a:r>
            <a:endParaRPr lang="en-US" sz="850" dirty="0"/>
          </a:p>
        </p:txBody>
      </p:sp>
      <p:sp>
        <p:nvSpPr>
          <p:cNvPr id="58" name="Shape 46"/>
          <p:cNvSpPr/>
          <p:nvPr/>
        </p:nvSpPr>
        <p:spPr>
          <a:xfrm>
            <a:off x="729691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789127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789127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1272" y="3401568"/>
            <a:ext cx="411480" cy="41148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737006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&amp; Recover</a:t>
            </a:r>
            <a:endParaRPr lang="en-US" sz="1000" dirty="0"/>
          </a:p>
        </p:txBody>
      </p:sp>
      <p:sp>
        <p:nvSpPr>
          <p:cNvPr id="63" name="Text 50"/>
          <p:cNvSpPr/>
          <p:nvPr/>
        </p:nvSpPr>
        <p:spPr>
          <a:xfrm>
            <a:off x="737006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Forensic logs preserved for post-mortem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 &amp; ACCESS CONTROL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144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435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encryption protects all data in transit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18928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TLS (mTLS) used between Kafka, Elasticsearch &amp; Kibana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744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" y="23500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channels are secured end-to-end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3464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Trust + network segmentation applied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5800" y="32644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FIX protocol for order messaging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4904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5800" y="3721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certificate rotation &amp; lifecycle management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14400"/>
            <a:ext cx="411480" cy="4114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394960" y="9144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66360" y="1435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(RBAC) by job function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66360" y="18928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Privilege Principle enforced on all accounts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77440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66360" y="23500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Multi-Factor Authentication (MFA) required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834640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6636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Audit Logging of all system actions</a:t>
            </a:r>
            <a:endParaRPr lang="en-US" sz="10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291840"/>
            <a:ext cx="201168" cy="20116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5166360" y="32644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management with rate limiting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749040"/>
            <a:ext cx="201168" cy="201168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166360" y="3721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Privileged Access Workstations (PAW) for admins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877824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00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 LAYER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726241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710064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 — Real-time data feed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" y="1284329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30859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LAYER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32477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1308594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 — Tick-to-Trade | Smart NIC | Kernel Bypass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65625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164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Sanity Checks — Packet filtering &amp; validation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82880" y="2126709"/>
            <a:ext cx="8778240" cy="9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2147163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CORE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6080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06040" y="214716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FPGA-based Trading Engine — Ultra-low latency execution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47955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06040" y="24670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Arista 7130 / Cisco Nexus — VLAN Micro-segmentation &lt;100ns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74205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606040" y="27295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Firewall + IDS/IPS — DDoS mitigation | Intrusion detection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182880" y="3173300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74320" y="319205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LAYER</a:t>
            </a:r>
            <a:endParaRPr lang="en-US" sz="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20455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606040" y="31920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NVMe Arrays — High-throughput | Kafka &amp; ES indexing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556254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606040" y="354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 + mTLS Transport — Replication factor: 3</a:t>
            </a:r>
            <a:endParaRPr lang="en-US" sz="950" dirty="0"/>
          </a:p>
        </p:txBody>
      </p:sp>
      <p:sp>
        <p:nvSpPr>
          <p:cNvPr id="28" name="Shape 18"/>
          <p:cNvSpPr/>
          <p:nvPr/>
        </p:nvSpPr>
        <p:spPr>
          <a:xfrm>
            <a:off x="182880" y="4026709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274320" y="4047163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MGMT LAYER</a:t>
            </a:r>
            <a:endParaRPr lang="en-US" sz="8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060800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606040" y="404716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OOB Management Network — Jump Host | MFA gated access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406254"/>
            <a:ext cx="164592" cy="16459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606040" y="439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Audit Logging — Zero Trust | Least Privilege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DEMONSTRATION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8412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5039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Technologies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" y="1243584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 — Secure high-throughput streaming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7472" y="149961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Stack — Logstash + Elasticsearch + Kibana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175564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Architecture: Kafka on-premise + ELK on cloud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2011680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Security: TLS 1.3 + mTLS, SASL/SCRAM, RBAC, Kill Switch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777240"/>
            <a:ext cx="4297680" cy="1508760"/>
          </a:xfrm>
          <a:prstGeom prst="rect">
            <a:avLst/>
          </a:prstGeom>
          <a:solidFill>
            <a:srgbClr val="F6F8FA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822960"/>
            <a:ext cx="4114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Create Secure Kafka Topic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kafka-topics.sh --create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--topic market-data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--partitions 12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--replication-factor 3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--bootstrap-server localhost:9094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--security-protocol SASL_SSL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8600" y="2423160"/>
            <a:ext cx="28346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2423160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" y="310896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Streaming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38328" y="3502152"/>
            <a:ext cx="261518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sends live JSON market ticks (symbol, price, volume, timestamp) at high frequency to market-data topic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18688" y="2423160"/>
            <a:ext cx="28346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18688" y="2423160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560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28416" y="310896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Monitoring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328416" y="3502152"/>
            <a:ext cx="261518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dashboard shows latency metrics; LATENCY SPIKE DETECTED triggers Kill Switch alert automatically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208776" y="2423160"/>
            <a:ext cx="28346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08776" y="2423160"/>
            <a:ext cx="283464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5603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18504" y="310896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Activation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318504" y="3502152"/>
            <a:ext cx="261518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anomaly threshold breached: algorithm instantly disconnected from Exchange Gateway. Status: System Secured.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 SCENARIOS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057400" cy="73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969264"/>
            <a:ext cx="502920" cy="50292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819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strategy drift or network failure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spike / data tampering identified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0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1448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804672"/>
            <a:ext cx="20574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969264"/>
            <a:ext cx="502920" cy="50292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8688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58191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32888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Kill-Switch triggered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Pending orders purged immediately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disconnected from exchange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498848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54296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54296" y="804672"/>
            <a:ext cx="205740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31536" y="969264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31536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58191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27448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FAILOVER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45736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switch to hot-standby node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data center takes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interruption to market position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11696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67144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67144" y="804672"/>
            <a:ext cx="2057400" cy="7315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644384" y="969264"/>
            <a:ext cx="502920" cy="502920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644384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581912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0296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58584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Post-mortem log analysis in Elasticsearch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state restoration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re-entry after verification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Protocol:  ELK detects anomaly → Threshold check → Kafka consumer halted → Exchange gateway disconnected → Audit log written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POLICIES, PROCEDURES &amp; GOVERNANCE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Policies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202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streams use TLS 1.3 + mTLS encryption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3957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MFA enforced on Kafka, ELK &amp; trading systems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87121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Anomalies auto-trigger the Kill Switch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34670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changes must be sandbox tested first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82219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8640" y="3794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 retained minimum 7 years (Reg SCI)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3191256" y="777240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3191256" y="777240"/>
            <a:ext cx="283464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91440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300984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Response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920240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538728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— ELK/Kibana identifies anomaly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39572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538728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— Kill Switch activates instantly</a:t>
            </a:r>
            <a:endParaRPr lang="en-US" sz="9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87121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538728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Investigation — Forensic analysis in Elasticsearch</a:t>
            </a:r>
            <a:endParaRPr lang="en-US" sz="9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346704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538728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 — Patch vulnerabilities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822192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3538728" y="3794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— Manual verification + phased restart</a:t>
            </a:r>
            <a:endParaRPr lang="en-US" sz="9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4297680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538728" y="42702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 — Update detection rules</a:t>
            </a:r>
            <a:endParaRPr lang="en-US" sz="900" dirty="0"/>
          </a:p>
        </p:txBody>
      </p:sp>
      <p:sp>
        <p:nvSpPr>
          <p:cNvPr id="34" name="Shape 19"/>
          <p:cNvSpPr/>
          <p:nvPr/>
        </p:nvSpPr>
        <p:spPr>
          <a:xfrm>
            <a:off x="6181344" y="777240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0"/>
          <p:cNvSpPr/>
          <p:nvPr/>
        </p:nvSpPr>
        <p:spPr>
          <a:xfrm>
            <a:off x="6181344" y="777240"/>
            <a:ext cx="2834640" cy="640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914400"/>
            <a:ext cx="457200" cy="45720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291072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&amp; Compliance</a:t>
            </a:r>
            <a:endParaRPr lang="en-US" sz="12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920240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528816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adherence to Regulation SCI and MiFID II</a:t>
            </a:r>
            <a:endParaRPr lang="en-US" sz="9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395728"/>
            <a:ext cx="182880" cy="18288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528816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security audits &amp; penetration testing</a:t>
            </a:r>
            <a:endParaRPr lang="en-US" sz="900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871216"/>
            <a:ext cx="182880" cy="18288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528816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policy review and team training</a:t>
            </a:r>
            <a:endParaRPr lang="en-US" sz="9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346704"/>
            <a:ext cx="182880" cy="182880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6528816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Implements CIA + Accountability principles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SECURITY ARCHITECTURE DIAGRAM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50876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164592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68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97180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7180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310896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868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43484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3484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19" name="Shape 14"/>
          <p:cNvSpPr/>
          <p:nvPr/>
        </p:nvSpPr>
        <p:spPr>
          <a:xfrm>
            <a:off x="457200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686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589788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89788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603504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8686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3504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736092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36092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29" name="Shape 22"/>
          <p:cNvSpPr/>
          <p:nvPr/>
        </p:nvSpPr>
        <p:spPr>
          <a:xfrm>
            <a:off x="749808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86868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56032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256032" y="2331720"/>
            <a:ext cx="205740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47472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Pipeline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47472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TLS/mTLS Encrypted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Data Loss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Replication: 3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2468880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6A5A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468880" y="2331720"/>
            <a:ext cx="2057400" cy="54864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560320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A5AC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Analytics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2560320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 → ES → Kibana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monitoring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681728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681728" y="2331720"/>
            <a:ext cx="20574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773168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/ Protection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773168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 → Instant halt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 compliant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preserved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6894576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894576" y="2331720"/>
            <a:ext cx="2057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986016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/ Untrusted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986016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 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enforced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traffic validated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CONTAINMENT &amp; POST-INCIDENT RECOVERY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926080" y="777240"/>
            <a:ext cx="32918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8412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93008" y="8229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Anomaly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(latency spike / data tampering)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Breached?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7280" y="2240280"/>
            <a:ext cx="2286000" cy="6858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04288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→ Kill Switch Activated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760720" y="2240280"/>
            <a:ext cx="2286000" cy="685800"/>
          </a:xfrm>
          <a:prstGeom prst="rect">
            <a:avLst/>
          </a:prstGeom>
          <a:solidFill>
            <a:srgbClr val="EAFAF1"/>
          </a:solidFill>
          <a:ln w="1270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317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304288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→ Continue Monitoring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POST-INCIDENT RECOVERY PIPELINE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56032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118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9184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29184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ES logs in Kibana to trace root cause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2313432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468880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61188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542032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542032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vulnerabilities in trading stack / network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526280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81728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A5A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611880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54880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5AC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Restore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754880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re-entry after manual verification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739128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894576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3611880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67728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967728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anomaly detection rules &amp; policies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THE 2010 FLASH CRASH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DJIA points dropped (~9%)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41448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$1T+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41448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Temporary market value lost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54296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$4.1B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4296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sell order size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67144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&lt;30min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67144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 of the crash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828800"/>
            <a:ext cx="41148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2024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1938528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Causes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42316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792" y="240487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of a large $4.1B algorithmic sell order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89864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" y="288036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Aggressive HFT feedback loops amplified selling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37413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1792" y="335584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liquidity evaporation in milliseconds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84962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" y="383133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Inadequate real-time monitoring &amp; risk controls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0" y="1828800"/>
            <a:ext cx="43434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4709160" y="192024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Our Project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617720" y="2304288"/>
            <a:ext cx="2057400" cy="411480"/>
          </a:xfrm>
          <a:prstGeom prst="rect">
            <a:avLst/>
          </a:prstGeom>
          <a:solidFill>
            <a:srgbClr val="E8F4FD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20840" y="2304288"/>
            <a:ext cx="2103120" cy="411480"/>
          </a:xfrm>
          <a:prstGeom prst="rect">
            <a:avLst/>
          </a:prstGeom>
          <a:solidFill>
            <a:srgbClr val="E8F4FD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663440" y="23500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 Vulnerability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766560" y="23500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Proposed Solution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617720" y="2779776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720840" y="2779776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663440" y="282549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anomaly detection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6766560" y="28254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ELK Stack monitoring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4617720" y="3255264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720840" y="3255264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63440" y="330098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identification of abnormal activity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6766560" y="330098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latency spike detection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4617720" y="3730752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720840" y="3730752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63440" y="37764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intervention mechanism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6766560" y="3776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Kill Switch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617720" y="4206240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720840" y="4206240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663440" y="42519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between speed and security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6766560" y="4251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low-latency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34747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5920" y="86868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898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3716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Security coexist: Real-time Kafka streaming without sacrificing low-latency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6537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184708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is feasible: Kafka + ELK enables real-time monitoring of suspicious patterns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408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232257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Protection works: Kill Switch disconnects compromised algorithms instantly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1635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2798064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Architecture: Exchange → Kafka → Logstash → Elasticsearch → Kibana → Kill Switch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9184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3232" y="327355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achieved: Fully aligns with Regulation SCI, MiFID II — CIA + Accountability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767328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13232" y="37490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lesson from Flash Crash: Automation &amp; monitoring are not optional — they are essential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6309360" y="1280160"/>
            <a:ext cx="2606040" cy="27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309360" y="1280160"/>
            <a:ext cx="26060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6400800" y="141732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is not an option in HFT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prerequisite.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6583680" y="2514600"/>
            <a:ext cx="20574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400800" y="260604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"Thank you for your time.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floor is open for technical questions."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6400800" y="3480000"/>
            <a:ext cx="242316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EduQual Level 3 — Topic 32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164592" y="4800600"/>
            <a:ext cx="8814816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Cloud Cyber Security  |  EduQual Level 3  |  Topic 32  |  Cybersecurity in High-Frequency Finance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8388</Words>
  <Application>WPS Presentation</Application>
  <PresentationFormat>On-screen Show (16:9)</PresentationFormat>
  <Paragraphs>523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 High-Frequency Finance</dc:title>
  <dc:creator>Anshra Subhaniee</dc:creator>
  <dc:subject>PptxGenJS Presentation</dc:subject>
  <cp:lastModifiedBy>Anshra Subhaniee</cp:lastModifiedBy>
  <cp:revision>2</cp:revision>
  <dcterms:created xsi:type="dcterms:W3CDTF">2026-06-05T19:13:00Z</dcterms:created>
  <dcterms:modified xsi:type="dcterms:W3CDTF">2026-06-05T19:30:19Z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7D84C42F0C014021842C5A172758CE78_13</vt:lpwstr>
  </property>
  <property fmtid="{D5CDD505-2E9C-101B-9397-08002B2CF9AE}" pid="3" name="KSOProductBuildVer">
    <vt:lpwstr>1033-12.1.0.26372</vt:lpwstr>
  </property>
</Properties>
</file>
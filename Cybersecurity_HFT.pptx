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14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914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08176" y="914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66544" y="914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24912" y="914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0" y="914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41648" y="914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0016" y="914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58384" y="914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16752" y="914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75120" y="914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33488" y="914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91856" y="914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50224" y="914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" y="7315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7315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08176" y="7315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66544" y="7315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24912" y="7315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83280" y="7315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41648" y="7315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0016" y="7315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58384" y="7315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16752" y="7315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75120" y="7315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33488" y="7315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91856" y="7315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50224" y="7315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440" y="13716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" y="13716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408176" y="13716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66544" y="13716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24912" y="13716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3280" y="13716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41648" y="13716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00016" y="13716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58384" y="13716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16752" y="13716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75120" y="13716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33488" y="13716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991856" y="13716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650224" y="13716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1440" y="201168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9808" y="201168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08176" y="201168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066544" y="201168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24912" y="201168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383280" y="201168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041648" y="201168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00016" y="201168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58384" y="201168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016752" y="201168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675120" y="201168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333488" y="201168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991856" y="201168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650224" y="201168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1440" y="265176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49808" y="265176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408176" y="265176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066544" y="265176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724912" y="265176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383280" y="265176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041648" y="265176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700016" y="265176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358384" y="265176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016752" y="265176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675120" y="265176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333488" y="265176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991856" y="265176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650224" y="265176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1440" y="32918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49808" y="32918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408176" y="32918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066544" y="32918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24912" y="32918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383280" y="32918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041648" y="32918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700016" y="32918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358384" y="32918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016752" y="32918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675120" y="32918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33488" y="32918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991856" y="32918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650224" y="32918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1440" y="39319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49808" y="39319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408176" y="39319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066544" y="39319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724912" y="39319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383280" y="39319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041648" y="39319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700016" y="39319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358384" y="39319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016752" y="39319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675120" y="39319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333488" y="39319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991856" y="39319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650224" y="39319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1440" y="45720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49808" y="45720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408176" y="45720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066544" y="45720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724912" y="45720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383280" y="45720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041648" y="45720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700016" y="45720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358384" y="45720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016752" y="45720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675120" y="45720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333488" y="45720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991856" y="45720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650224" y="45720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365760" y="82296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500" dirty="0">
                <a:solidFill>
                  <a:srgbClr val="1B5E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CYBERSECURITY IN</a:t>
            </a:r>
            <a:endParaRPr lang="en-US" sz="2200" dirty="0"/>
          </a:p>
        </p:txBody>
      </p:sp>
      <p:sp>
        <p:nvSpPr>
          <p:cNvPr id="116" name="Text 114"/>
          <p:cNvSpPr/>
          <p:nvPr/>
        </p:nvSpPr>
        <p:spPr>
          <a:xfrm>
            <a:off x="365760" y="1280160"/>
            <a:ext cx="8229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3A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High-Frequency Finance</a:t>
            </a:r>
            <a:endParaRPr lang="en-US" sz="4400" dirty="0"/>
          </a:p>
        </p:txBody>
      </p:sp>
      <p:sp>
        <p:nvSpPr>
          <p:cNvPr id="117" name="Text 115"/>
          <p:cNvSpPr/>
          <p:nvPr/>
        </p:nvSpPr>
        <p:spPr>
          <a:xfrm>
            <a:off x="365760" y="2377440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Protecting Speed-Sensitive Platforms from Manipulation and Disruption</a:t>
            </a:r>
            <a:endParaRPr lang="en-US" sz="1400" dirty="0"/>
          </a:p>
        </p:txBody>
      </p:sp>
      <p:sp>
        <p:nvSpPr>
          <p:cNvPr id="118" name="Shape 116"/>
          <p:cNvSpPr/>
          <p:nvPr/>
        </p:nvSpPr>
        <p:spPr>
          <a:xfrm>
            <a:off x="365760" y="3063240"/>
            <a:ext cx="2743200" cy="36576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365760" y="32461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Anshra Subhaniee</a:t>
            </a:r>
            <a:endParaRPr lang="en-US" sz="1400" dirty="0"/>
          </a:p>
        </p:txBody>
      </p:sp>
      <p:sp>
        <p:nvSpPr>
          <p:cNvPr id="120" name="Text 118"/>
          <p:cNvSpPr/>
          <p:nvPr/>
        </p:nvSpPr>
        <p:spPr>
          <a:xfrm>
            <a:off x="365760" y="35661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Diploma in Cloud Cyber Security  |  EduQual Level 3  |  Topic 32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400" dirty="0">
                <a:solidFill>
                  <a:srgbClr val="1B5E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PRESENTATION AGENDA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788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88E3C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64008" cy="8686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" y="1014984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5E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56616" y="1344168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HFT Ecosystem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6616" y="1545336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Basics of HFT &amp; algorithmic trading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788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88E3C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60120"/>
            <a:ext cx="64008" cy="8686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1014984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5E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28416" y="1344168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Threat Landscape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28416" y="1545336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Speed &amp; integrity risks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72200" y="960120"/>
            <a:ext cx="2788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88E3C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960120"/>
            <a:ext cx="64008" cy="8686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1014984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5E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0216" y="1344168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Technical Monitoring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0216" y="1545336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Kafka + ELK anomaly detection architecture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1965960"/>
            <a:ext cx="2788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88E3C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1965960"/>
            <a:ext cx="64008" cy="8686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" y="2020824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5E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56616" y="2350008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 Comms &amp; Access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6616" y="2551176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TLS, mTLS, RBAC, MFA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0" y="1965960"/>
            <a:ext cx="2788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88E3C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1965960"/>
            <a:ext cx="64008" cy="8686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28416" y="2020824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5E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328416" y="2350008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&amp; Network Arch.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28416" y="2551176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FPGA gateways, VLAN, NVMe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72200" y="1965960"/>
            <a:ext cx="2788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88E3C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72200" y="1965960"/>
            <a:ext cx="64008" cy="8686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0216" y="2020824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5E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00216" y="2350008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Implementation &amp; Demo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0216" y="2551176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Kafka streaming, Kibana dashboard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28600" y="2971800"/>
            <a:ext cx="2788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88E3C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28600" y="2971800"/>
            <a:ext cx="64008" cy="8686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6616" y="3026664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5E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56616" y="3355848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Failure &amp; Recovery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56616" y="3557016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Kill switch, failover, post-mortem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00400" y="2971800"/>
            <a:ext cx="2788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88E3C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00400" y="2971800"/>
            <a:ext cx="64008" cy="8686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28416" y="3026664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5E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328416" y="3355848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Policies &amp; Governance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328416" y="3557016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 SCI, MiFID II, RACI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172200" y="2971800"/>
            <a:ext cx="2788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88E3C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72200" y="2971800"/>
            <a:ext cx="64008" cy="8686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00216" y="3026664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5E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300216" y="3355848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Architecture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300216" y="3557016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Integrated diagram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28600" y="3977640"/>
            <a:ext cx="2788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88E3C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228600" y="3977640"/>
            <a:ext cx="64008" cy="8686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56616" y="4032504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5E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356616" y="4361688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Containment &amp; Recovery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56616" y="4562856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response flow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200400" y="3977640"/>
            <a:ext cx="2788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88E3C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3200400" y="3977640"/>
            <a:ext cx="64008" cy="8686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328416" y="4032504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5E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3328416" y="4361688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Case Study: 2010 Flash Crash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3328416" y="4562856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Lessons applied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172200" y="3977640"/>
            <a:ext cx="2788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88E3C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172200" y="3977640"/>
            <a:ext cx="64008" cy="8686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00216" y="4032504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5E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300216" y="4361688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 &amp; Q&amp;A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300216" y="4562856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1B5E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BASICS OF HFT AND ALGORITHMIC TRADING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530352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64008" cy="11430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HFT Definition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49377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Trading that uses powerful computers to execute thousands to millions of orders per second at microsecond speeds — faster than a human blink.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240280"/>
            <a:ext cx="530352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240280"/>
            <a:ext cx="64008" cy="11430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3172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Algorithmic Trading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624328"/>
            <a:ext cx="49377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Programs that automatically trade based on predefined instructions (price, timing, volume). No human intervention — pure code decisions.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566160"/>
            <a:ext cx="530352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C107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566160"/>
            <a:ext cx="64008" cy="114300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65760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10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Security Matters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950208"/>
            <a:ext cx="49377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 latency injection, data tampering, or unauthorized access can cause cascading failures worth billions in seconds. Security is mission-critical.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0" y="914400"/>
            <a:ext cx="2834640" cy="11430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0" y="1005840"/>
            <a:ext cx="28346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~1 µs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5943600" y="166420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Execution speed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0" y="2240280"/>
            <a:ext cx="2834640" cy="11430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0" y="2331720"/>
            <a:ext cx="28346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50%+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5943600" y="299008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 equities volume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0" y="3566160"/>
            <a:ext cx="2834640" cy="11430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0" y="3657600"/>
            <a:ext cx="28346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24/7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5943600" y="431596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Uptime requirement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F443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CYBERSECURITY THREAT LANDSCAPE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78892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C107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2788920" cy="384048"/>
          </a:xfrm>
          <a:prstGeom prst="rect">
            <a:avLst/>
          </a:prstGeom>
          <a:solidFill>
            <a:srgbClr val="F1F8E9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14984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C10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 Latency Attacks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417320"/>
            <a:ext cx="2633472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Weaponizing time — injecting microsecond delays to make competitors' data obsolete, gaining unfair market advantage.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78892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44336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60120"/>
            <a:ext cx="2788920" cy="384048"/>
          </a:xfrm>
          <a:prstGeom prst="rect">
            <a:avLst/>
          </a:prstGeom>
          <a:solidFill>
            <a:srgbClr val="F1F8E9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014984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43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🔄  Data Tampering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1417320"/>
            <a:ext cx="2633472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Poisoning price/volume feeds — unauthorized changes trigger wrong algorithmic decisions, causing flash crashes.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960120"/>
            <a:ext cx="278892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44336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960120"/>
            <a:ext cx="2788920" cy="384048"/>
          </a:xfrm>
          <a:prstGeom prst="rect">
            <a:avLst/>
          </a:prstGeom>
          <a:solidFill>
            <a:srgbClr val="F1F8E9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014984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43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🛑  DDoS Attacks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63640" y="1417320"/>
            <a:ext cx="2633472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Flooding trading infrastructure with traffic, causing system downtime and financial losses within seconds.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2926080"/>
            <a:ext cx="278892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C107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926080"/>
            <a:ext cx="2788920" cy="384048"/>
          </a:xfrm>
          <a:prstGeom prst="rect">
            <a:avLst/>
          </a:prstGeom>
          <a:solidFill>
            <a:srgbClr val="F1F8E9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980944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C10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🕵️  Man-in-the-Middle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" y="3383280"/>
            <a:ext cx="2633472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Intercepting trading communications between exchange and firm — exposing sensitive order data and strategies.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2926080"/>
            <a:ext cx="278892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C107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2926080"/>
            <a:ext cx="2788920" cy="384048"/>
          </a:xfrm>
          <a:prstGeom prst="rect">
            <a:avLst/>
          </a:prstGeom>
          <a:solidFill>
            <a:srgbClr val="F1F8E9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2980944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C10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🔑  Unauthorized Access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91840" y="3383280"/>
            <a:ext cx="2633472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Compromised credentials allow fraudulent trades or theft of proprietary trading algorithms.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2926080"/>
            <a:ext cx="278892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44336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2926080"/>
            <a:ext cx="2788920" cy="384048"/>
          </a:xfrm>
          <a:prstGeom prst="rect">
            <a:avLst/>
          </a:prstGeom>
          <a:solidFill>
            <a:srgbClr val="F1F8E9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2980944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43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💾  Algorithm Theft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3640" y="3383280"/>
            <a:ext cx="2633472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Exfiltration of trading algorithms — IP theft giving competitors an illegal edge and regulatory exposure.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089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TECHNICAL MONITORING &amp; ANOMALY DETECTION — DATA FLOW DIAGRAM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" y="868680"/>
            <a:ext cx="123444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78909C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19456" y="914400"/>
            <a:ext cx="116128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Market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Exchange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19456" y="1234440"/>
            <a:ext cx="116128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ticks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orders, quotes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417320" y="1357884"/>
            <a:ext cx="182880" cy="5486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81912" y="1303020"/>
            <a:ext cx="91440" cy="16459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73352" y="868680"/>
            <a:ext cx="123444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09928" y="914400"/>
            <a:ext cx="116128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5E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 Kafka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709928" y="1234440"/>
            <a:ext cx="116128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TLS 1.3 + SASL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High-throughput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message broker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907792" y="1357884"/>
            <a:ext cx="182880" cy="5486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72384" y="1303020"/>
            <a:ext cx="91440" cy="16459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63824" y="868680"/>
            <a:ext cx="123444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C107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0" y="914400"/>
            <a:ext cx="116128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C10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Logstash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00400" y="1234440"/>
            <a:ext cx="116128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Parse &amp; transform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 enrichment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filtering rules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398264" y="1357884"/>
            <a:ext cx="182880" cy="5486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62856" y="1303020"/>
            <a:ext cx="91440" cy="16459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54296" y="868680"/>
            <a:ext cx="123444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C107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90872" y="914400"/>
            <a:ext cx="116128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C10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Elasticsearch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90872" y="1234440"/>
            <a:ext cx="116128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Index &amp; store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 searching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long-term logs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888736" y="1357884"/>
            <a:ext cx="182880" cy="5486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53328" y="1303020"/>
            <a:ext cx="91440" cy="16459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44768" y="868680"/>
            <a:ext cx="123444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81344" y="914400"/>
            <a:ext cx="116128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89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Kibana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81344" y="1234440"/>
            <a:ext cx="116128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alerts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379208" y="1357884"/>
            <a:ext cx="182880" cy="5486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43800" y="1303020"/>
            <a:ext cx="91440" cy="16459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35240" y="868680"/>
            <a:ext cx="1234440" cy="1051560"/>
          </a:xfrm>
          <a:prstGeom prst="rect">
            <a:avLst/>
          </a:prstGeom>
          <a:solidFill>
            <a:srgbClr val="F1F8E9"/>
          </a:solidFill>
          <a:ln w="19050">
            <a:solidFill>
              <a:srgbClr val="F44336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671816" y="914400"/>
            <a:ext cx="116128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43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Kill Switch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671816" y="1234440"/>
            <a:ext cx="116128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Auto-disconnect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compromised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algorithm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82880" y="2029968"/>
            <a:ext cx="8778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⬆  DATA FLOW PIPELINE  ⬆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82880" y="2331720"/>
            <a:ext cx="8778240" cy="36576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880" y="2423160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ANOMALY DETECTION LOGIC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82880" y="2743200"/>
            <a:ext cx="1600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2788920"/>
            <a:ext cx="411480" cy="41148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2807208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28600" y="3246120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89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Monitor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28600" y="3547872"/>
            <a:ext cx="1508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Kibana watches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latency &amp; volume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real-time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783080" y="3364992"/>
            <a:ext cx="146304" cy="54864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892808" y="3310128"/>
            <a:ext cx="73152" cy="164592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965960" y="2743200"/>
            <a:ext cx="1600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0320" y="2788920"/>
            <a:ext cx="411480" cy="41148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60320" y="2807208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2011680" y="3246120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C10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Detect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2011680" y="3547872"/>
            <a:ext cx="1508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Threshold breach?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Abnormal pattern?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Suspicious access?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566160" y="3364992"/>
            <a:ext cx="146304" cy="54864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675888" y="3310128"/>
            <a:ext cx="73152" cy="164592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0" y="2743200"/>
            <a:ext cx="1600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343400" y="2788920"/>
            <a:ext cx="411480" cy="41148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43400" y="2807208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3794760" y="3246120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C10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Alert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3794760" y="3547872"/>
            <a:ext cx="1508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Alert fired via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Elasticsearch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Watcher rules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349240" y="3364992"/>
            <a:ext cx="146304" cy="54864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458968" y="3310128"/>
            <a:ext cx="73152" cy="164592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532120" y="2743200"/>
            <a:ext cx="1600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126480" y="2788920"/>
            <a:ext cx="411480" cy="411480"/>
          </a:xfrm>
          <a:prstGeom prst="ellipse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26480" y="2807208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5577840" y="3246120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43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Kill Switch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577840" y="3547872"/>
            <a:ext cx="1508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Algorithm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instantly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disconnected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132320" y="3364992"/>
            <a:ext cx="146304" cy="54864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242048" y="3310128"/>
            <a:ext cx="73152" cy="164592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315200" y="2743200"/>
            <a:ext cx="1600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909560" y="2788920"/>
            <a:ext cx="411480" cy="41148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909560" y="2807208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7360920" y="3246120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5E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Log &amp; Recover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7360920" y="3547872"/>
            <a:ext cx="1508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Forensic logs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preserved for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post-mortem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89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 COMMUNICATION &amp; ACCESS CONTROL IN HFT SYSTEMS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20624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4206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78408"/>
            <a:ext cx="3931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🔒 Secure Communication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417320"/>
            <a:ext cx="3840480" cy="3200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TLS 1.3 encryption protects all data in transit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Mutual TLS (mTLS) used between Kafka, Elasticsearch &amp; Kibana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channels are secured end-to-end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Zero Trust + network segmentation applied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Encrypted FIX protocol for order messaging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Regular certificate rotation &amp; lifecycle management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914400"/>
            <a:ext cx="420624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914400"/>
            <a:ext cx="4206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978408"/>
            <a:ext cx="3931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🛡️ Access Control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10912" y="1417320"/>
            <a:ext cx="3840480" cy="3200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Role-Based Access Control (RBAC) by job function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Least Privilege Principle enforced on all accounts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Multi-Factor Authentication (MFA) required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Audit Logging of all system actions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key management with rate limiting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Privileged Access Workstations (PAW) for admins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300" dirty="0">
                <a:solidFill>
                  <a:srgbClr val="1B5E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&amp; NETWORK ARCHITECTURE DIAGRAM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1005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" y="941832"/>
            <a:ext cx="9692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EXCHANGE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0" y="1664208"/>
            <a:ext cx="1005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" y="1737360"/>
            <a:ext cx="9692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89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EDGE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0089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0" y="2450592"/>
            <a:ext cx="1005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" y="2523744"/>
            <a:ext cx="9692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5E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B5E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0" y="3236976"/>
            <a:ext cx="1005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" y="3310128"/>
            <a:ext cx="9692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C10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STORAGE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C10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4023360"/>
            <a:ext cx="1005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" y="4096512"/>
            <a:ext cx="9692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443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MGMT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443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188720" y="868680"/>
            <a:ext cx="201168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78909C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234440" y="91440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Market Exchange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34440" y="1252728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data feed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46120" y="1143000"/>
            <a:ext cx="228600" cy="54864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38144" y="1088136"/>
            <a:ext cx="82296" cy="164592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0440" y="868680"/>
            <a:ext cx="228600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78909C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566160" y="91440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FPGA Gateway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66160" y="1252728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Tick-to-Trade | Smart NIC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Kernel Bypass | Packet Filter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852160" y="1143000"/>
            <a:ext cx="228600" cy="54864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44184" y="1088136"/>
            <a:ext cx="82296" cy="164592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868680"/>
            <a:ext cx="274320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78909C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72200" y="914400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Hardware Sanity Checks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72200" y="1252728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Packet filtering &amp; validation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188720" y="1664208"/>
            <a:ext cx="292608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234440" y="170992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89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FPGA-based Trading Engine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234440" y="2048256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Ultra-low latency execution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Solarflare / Mellanox NIC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60520" y="1938528"/>
            <a:ext cx="18288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06824" y="1883664"/>
            <a:ext cx="82296" cy="16459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89120" y="1664208"/>
            <a:ext cx="448056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434840" y="1709928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89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Co-location Servers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434840" y="2048256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Primary DC | TLS 1.3 + mTLS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AES-256 encryption at rest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188720" y="2450592"/>
            <a:ext cx="320040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234440" y="249631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E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Arista 7130 / Cisco Nexus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234440" y="2834640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L2/L3 switches &lt;100ns latency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VLAN Micro-segmentation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4840" y="2724912"/>
            <a:ext cx="182880" cy="5486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81144" y="2670048"/>
            <a:ext cx="82296" cy="16459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3440" y="2450592"/>
            <a:ext cx="420624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709160" y="2496312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E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Firewall + IDS/IPS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709160" y="2834640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Port security | DDoS mitigation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Intrusion detection system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188720" y="3236976"/>
            <a:ext cx="320040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FFC107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234440" y="3282696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C10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NVMe Arrays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234440" y="3621024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High-throughput storage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Kafka persistence | ES indexing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434840" y="3511296"/>
            <a:ext cx="182880" cy="54864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81144" y="3456432"/>
            <a:ext cx="82296" cy="16459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63440" y="3236976"/>
            <a:ext cx="420624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FFC107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709160" y="3282696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C10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AES-256 + mTLS Transport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709160" y="3621024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Encryption at rest &amp; in transit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Replication factor: 3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188720" y="4023360"/>
            <a:ext cx="320040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F44336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1234440" y="406908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43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OOB Management Network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234440" y="440740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Isolated from production plane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Jump Host | MFA gated access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434840" y="4297680"/>
            <a:ext cx="182880" cy="54864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581144" y="4242816"/>
            <a:ext cx="82296" cy="164592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663440" y="4023360"/>
            <a:ext cx="420624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F44336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4709160" y="406908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43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RBAC + Audit Logging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709160" y="4407408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Zero Trust | Least Privilege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audit trail retained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1B5E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IMPLEMENTATION &amp; DEMONSTRATION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Technologies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234440"/>
            <a:ext cx="50292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 Kafka — Secure high-throughput streaming (Kafka on-premise)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ELK Stack — Logstash + Elasticsearch + Kibana (ELK on cloud)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Hybrid Architecture: Kafka on-premise (low latency) + ELK on cloud (scalable)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Security: TLS 1.3 + mTLS, SASL/SCRAM, RBAC, Audit Logging, Kill Switch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2578608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Kafka Configuration (Secure Topic Setup)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926080"/>
            <a:ext cx="5029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017520"/>
            <a:ext cx="4754880" cy="1719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5E2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Create Secure Kafka Topic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5E2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kafka-topics.sh --create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5E2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--topic market-data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5E2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--partitions 12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5E2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--replication-factor 3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5E2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--bootstrap-server localhost:9094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5E2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--security-protocol SASL_SSL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77840" y="868680"/>
            <a:ext cx="3383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77840" y="868680"/>
            <a:ext cx="3383280" cy="347472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91440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Kafka Streaming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0" y="1271016"/>
            <a:ext cx="32004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Producer sends live JSON market ticks (symbol, price, volume, timestamp) at high frequency to market-data topic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577840" y="2286000"/>
            <a:ext cx="3383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577840" y="2286000"/>
            <a:ext cx="3383280" cy="347472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233172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Kibana Monitoring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0" y="2688336"/>
            <a:ext cx="32004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dashboard shows latency metrics; LATENCY SPIKE DETECTED triggers Kill Switch alert automatically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577840" y="3703320"/>
            <a:ext cx="3383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77840" y="3703320"/>
            <a:ext cx="3383280" cy="347472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374904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Kill Switch Activation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0" y="4105656"/>
            <a:ext cx="32004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anomaly threshold breached: algorithm instantly disconnected from Exchange Gateway. Status: System Secured.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F443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FAILURE &amp; RECOVERY SCENARIOS — FLOW DIAGRAM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2011680" cy="28346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C107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78408" y="932688"/>
            <a:ext cx="594360" cy="59436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950976"/>
            <a:ext cx="594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1627632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C10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1463040" cy="27432"/>
          </a:xfrm>
          <a:prstGeom prst="rect">
            <a:avLst/>
          </a:prstGeom>
          <a:solidFill>
            <a:srgbClr val="FFC107">
              <a:alpha val="40000"/>
            </a:srgbClr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29968"/>
            <a:ext cx="18288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ELK/Kafka detects strategy drift or network failure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Latency spike / data tampering identified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0" y="2267712"/>
            <a:ext cx="146304" cy="64008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14016" y="2203704"/>
            <a:ext cx="91440" cy="192024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68880" y="868680"/>
            <a:ext cx="2011680" cy="2834640"/>
          </a:xfrm>
          <a:prstGeom prst="rect">
            <a:avLst/>
          </a:prstGeom>
          <a:solidFill>
            <a:srgbClr val="FFFFFF"/>
          </a:solidFill>
          <a:ln w="19050">
            <a:solidFill>
              <a:srgbClr val="F44336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72968" y="932688"/>
            <a:ext cx="594360" cy="594360"/>
          </a:xfrm>
          <a:prstGeom prst="ellipse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72968" y="950976"/>
            <a:ext cx="594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514600" y="1627632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43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INTERVENTION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0" y="1965960"/>
            <a:ext cx="1463040" cy="27432"/>
          </a:xfrm>
          <a:prstGeom prst="rect">
            <a:avLst/>
          </a:prstGeom>
          <a:solidFill>
            <a:srgbClr val="F44336">
              <a:alpha val="40000"/>
            </a:srgbClr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2029968"/>
            <a:ext cx="18288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Hardware Kill-Switch triggered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Pending orders purged immediately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Algorithm disconnected from exchange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480560" y="2267712"/>
            <a:ext cx="146304" cy="64008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08576" y="2203704"/>
            <a:ext cx="91440" cy="192024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868680"/>
            <a:ext cx="2011680" cy="2834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367528" y="932688"/>
            <a:ext cx="594360" cy="59436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67528" y="950976"/>
            <a:ext cx="594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709160" y="1627632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89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FAILOVER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1965960"/>
            <a:ext cx="1463040" cy="27432"/>
          </a:xfrm>
          <a:prstGeom prst="rect">
            <a:avLst/>
          </a:prstGeom>
          <a:solidFill>
            <a:srgbClr val="00897B">
              <a:alpha val="40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029968"/>
            <a:ext cx="18288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Deterministic switch to hot-standby node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Secondary data center takes over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Zero interruption to market position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675120" y="2267712"/>
            <a:ext cx="146304" cy="64008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03136" y="2203704"/>
            <a:ext cx="91440" cy="192024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0" y="868680"/>
            <a:ext cx="2011680" cy="2834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562088" y="932688"/>
            <a:ext cx="594360" cy="59436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62088" y="950976"/>
            <a:ext cx="594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903720" y="1627632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E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RECOVERY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132320" y="1965960"/>
            <a:ext cx="1463040" cy="27432"/>
          </a:xfrm>
          <a:prstGeom prst="rect">
            <a:avLst/>
          </a:prstGeom>
          <a:solidFill>
            <a:srgbClr val="1B5E20">
              <a:alpha val="40000"/>
            </a:srgbClr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49440" y="2029968"/>
            <a:ext cx="18288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Post-mortem log analysis in Elasticsearch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state restoration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Phased re-entry after verification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74320" y="376732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5E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  →  Contain  →  Failover  →  Recover  →  Strengthen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645920" y="3246120"/>
            <a:ext cx="5760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37360" y="3291840"/>
            <a:ext cx="5577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5E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Kill Switch Protocol: ELK detects anomaly → Threshold check → Kafka consumer halted → Exchange gateway disconnected → Audit log written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300" dirty="0">
                <a:solidFill>
                  <a:srgbClr val="1B5E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POLICIES, PROCEDURES &amp; GOVERNANCE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278892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14400"/>
            <a:ext cx="2788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978408"/>
            <a:ext cx="257860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Policies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" y="1353312"/>
            <a:ext cx="2560320" cy="3337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streams use TLS 1.3 + mTLS encryption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RBAC + MFA enforced on Kafka, ELK &amp; trading systems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Anomalies auto-trigger the Kill Switch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Algorithm changes must be sandbox tested first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Logs retained minimum 7 years (Reg SCI)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78892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C107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14400"/>
            <a:ext cx="2788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978408"/>
            <a:ext cx="257860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10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Incident Response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0128" y="1353312"/>
            <a:ext cx="2560320" cy="3337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Detection — ELK/Kibana identifies anomaly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Containment — Kill Switch activates instantly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Investigation — Forensic analysis in Elasticsearch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Eradication — Patch vulnerabilities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Recovery — Manual verification + phased restart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Lessons Learned — Update detection rules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914400"/>
            <a:ext cx="278892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914400"/>
            <a:ext cx="2788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81928" y="978408"/>
            <a:ext cx="257860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Governance &amp; Compliance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81928" y="1353312"/>
            <a:ext cx="2560320" cy="3337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adherence to Regulation SCI and MiFID II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Quarterly security audits &amp; penetration testing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Annual policy review and team training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Implements CIA + Accountability principles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1B5E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INTEGRATED SECURITY ARCHITECTURE DIAGRAM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82880" y="822960"/>
            <a:ext cx="146304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78909C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02870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External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Market Exchange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73352" y="914400"/>
            <a:ext cx="685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89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TLS 1.3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673352" y="1097280"/>
            <a:ext cx="640080" cy="457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58568" y="1042416"/>
            <a:ext cx="64008" cy="1554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31720" y="822960"/>
            <a:ext cx="192024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77440" y="86868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E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Kafka Cluster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77440" y="120700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TLS 1.3 + SASL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Zero Data Loss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Replication: 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79392" y="914400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89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mTLS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279392" y="1097280"/>
            <a:ext cx="548640" cy="457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73168" y="1042416"/>
            <a:ext cx="64008" cy="1554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822960"/>
            <a:ext cx="192024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C107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86868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C10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Logstash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120700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Parse, transform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Enrich &amp; filter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 ingestion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93992" y="914400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89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mTLS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793992" y="1097280"/>
            <a:ext cx="548640" cy="457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87768" y="1042416"/>
            <a:ext cx="64008" cy="1554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60920" y="822960"/>
            <a:ext cx="160020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C107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406640" y="868680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C10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Elasticsearch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06640" y="1207008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Index &amp; store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 querying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 analysis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64408" y="1554480"/>
            <a:ext cx="54864" cy="4572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9544" y="1956816"/>
            <a:ext cx="164592" cy="16459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0" y="1554480"/>
            <a:ext cx="54864" cy="45720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83296" y="1956816"/>
            <a:ext cx="164592" cy="16459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31720" y="2121408"/>
            <a:ext cx="192024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377440" y="216712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E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ELK Stack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377440" y="2505456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Logstash → ES → Kibana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monitoring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Anomaly detection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279392" y="2450592"/>
            <a:ext cx="548640" cy="5486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73168" y="2395728"/>
            <a:ext cx="64008" cy="16459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2121408"/>
            <a:ext cx="192024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92040" y="216712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89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Kibana Dashboard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92040" y="2505456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latency charts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Alert thresholds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Suspicious patterns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793992" y="2450592"/>
            <a:ext cx="548640" cy="54864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287768" y="2395728"/>
            <a:ext cx="64008" cy="164592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60920" y="2121408"/>
            <a:ext cx="1600200" cy="749808"/>
          </a:xfrm>
          <a:prstGeom prst="rect">
            <a:avLst/>
          </a:prstGeom>
          <a:solidFill>
            <a:srgbClr val="F1F8E9"/>
          </a:solidFill>
          <a:ln w="19050">
            <a:solidFill>
              <a:srgbClr val="F44336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406640" y="2167128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43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Kill Switch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406640" y="2505456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Threshold breach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Instant halt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 SCI compliant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138160" y="2871216"/>
            <a:ext cx="54864" cy="365760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83296" y="3182112"/>
            <a:ext cx="164592" cy="164592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360920" y="3346704"/>
            <a:ext cx="160020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406640" y="3392424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E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Trading Algorithms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406640" y="3730752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Protected execution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Instant halt on breach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 SCI Compliant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82880" y="4251960"/>
            <a:ext cx="8778240" cy="54864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4434840"/>
            <a:ext cx="201168" cy="20116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3232" y="4443984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Kafka Pipeline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194560" y="4434840"/>
            <a:ext cx="201168" cy="2011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50592" y="4443984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TLS/mTLS Encrypted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931920" y="4434840"/>
            <a:ext cx="201168" cy="20116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87952" y="4443984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ELK Analytics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669280" y="4434840"/>
            <a:ext cx="201168" cy="201168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925312" y="4443984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Kill Switch / Protection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406640" y="4434840"/>
            <a:ext cx="201168" cy="201168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662672" y="4443984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External / Untrusted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443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CONTAINMENT &amp; POST-INCIDENT RECOVERY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74720" y="841248"/>
            <a:ext cx="2194560" cy="594360"/>
          </a:xfrm>
          <a:prstGeom prst="rect">
            <a:avLst/>
          </a:prstGeom>
          <a:solidFill>
            <a:srgbClr val="F1F8E9"/>
          </a:solidFill>
          <a:ln w="19050">
            <a:solidFill>
              <a:srgbClr val="F443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20440" y="877824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43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ELK/Kafka Detects Anomaly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443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(latency spike / data tampering)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44568" y="1435608"/>
            <a:ext cx="54864" cy="3200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89704" y="1700784"/>
            <a:ext cx="164592" cy="16459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1865376"/>
            <a:ext cx="2194560" cy="594360"/>
          </a:xfrm>
          <a:prstGeom prst="rect">
            <a:avLst/>
          </a:prstGeom>
          <a:solidFill>
            <a:srgbClr val="F1F8E9"/>
          </a:solidFill>
          <a:ln w="19050">
            <a:solidFill>
              <a:srgbClr val="FFC10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938528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C10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Threshold Breached?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77440" y="2029968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43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0" y="2148840"/>
            <a:ext cx="1188720" cy="54864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31136" y="2148840"/>
            <a:ext cx="54864" cy="731520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31136" y="2825496"/>
            <a:ext cx="164592" cy="164592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990088"/>
            <a:ext cx="2103120" cy="640080"/>
          </a:xfrm>
          <a:prstGeom prst="rect">
            <a:avLst/>
          </a:prstGeom>
          <a:solidFill>
            <a:srgbClr val="F1F8E9"/>
          </a:solidFill>
          <a:ln w="19050">
            <a:solidFill>
              <a:srgbClr val="F443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026664"/>
            <a:ext cx="20116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43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Kill Switch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443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Activated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60720" y="2029968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5E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87568" y="2148840"/>
            <a:ext cx="1280160" cy="5486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12864" y="2148840"/>
            <a:ext cx="54864" cy="7315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12864" y="2825496"/>
            <a:ext cx="164592" cy="16459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77456" y="2990088"/>
            <a:ext cx="1792224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5E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23176" y="3026664"/>
            <a:ext cx="17007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5E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Continue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5E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3703320"/>
            <a:ext cx="8595360" cy="36576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794760"/>
            <a:ext cx="8595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B5E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POST-INCIDENT RECOVERY PIPELINE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4114800"/>
            <a:ext cx="2011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4160520"/>
            <a:ext cx="1874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C10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Analysis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7472" y="4425696"/>
            <a:ext cx="1874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Query ES logs in Kibana to trace root cause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286000" y="4489704"/>
            <a:ext cx="137160" cy="54864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86584" y="4434840"/>
            <a:ext cx="82296" cy="164592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68880" y="4114800"/>
            <a:ext cx="2011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42032" y="4160520"/>
            <a:ext cx="1874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43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Eradication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542032" y="4425696"/>
            <a:ext cx="1874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Patch vulnerabilities in trading stack / network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480560" y="4489704"/>
            <a:ext cx="137160" cy="54864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81144" y="4434840"/>
            <a:ext cx="82296" cy="164592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4114800"/>
            <a:ext cx="2011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36592" y="4160520"/>
            <a:ext cx="1874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89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Restore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36592" y="4425696"/>
            <a:ext cx="1874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Phased re-entry after manual verification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675120" y="4489704"/>
            <a:ext cx="137160" cy="54864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75704" y="4434840"/>
            <a:ext cx="82296" cy="164592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58000" y="4114800"/>
            <a:ext cx="2011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31152" y="4160520"/>
            <a:ext cx="1874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5E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Improvement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931152" y="4425696"/>
            <a:ext cx="1874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 anomaly detection rules &amp; policies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F443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CASE STUDY: THE 2010 FLASH CRASH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2057400" cy="822960"/>
          </a:xfrm>
          <a:prstGeom prst="rect">
            <a:avLst/>
          </a:prstGeom>
          <a:solidFill>
            <a:srgbClr val="F1F8E9"/>
          </a:solidFill>
          <a:ln w="12700">
            <a:solidFill>
              <a:srgbClr val="F44336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86868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443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~1,000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28600" y="1371600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DJIA points dropped (~9%)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822960"/>
            <a:ext cx="2057400" cy="822960"/>
          </a:xfrm>
          <a:prstGeom prst="rect">
            <a:avLst/>
          </a:prstGeom>
          <a:solidFill>
            <a:srgbClr val="F1F8E9"/>
          </a:solidFill>
          <a:ln w="12700">
            <a:solidFill>
              <a:srgbClr val="F44336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86868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443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$1T+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468880" y="1371600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Temporary market value lost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822960"/>
            <a:ext cx="2057400" cy="822960"/>
          </a:xfrm>
          <a:prstGeom prst="rect">
            <a:avLst/>
          </a:prstGeom>
          <a:solidFill>
            <a:srgbClr val="F1F8E9"/>
          </a:solidFill>
          <a:ln w="12700">
            <a:solidFill>
              <a:srgbClr val="F44336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86868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443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$4.1B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709160" y="1371600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Algorithmic sell order size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949440" y="822960"/>
            <a:ext cx="2057400" cy="822960"/>
          </a:xfrm>
          <a:prstGeom prst="rect">
            <a:avLst/>
          </a:prstGeom>
          <a:solidFill>
            <a:srgbClr val="F1F8E9"/>
          </a:solidFill>
          <a:ln w="12700">
            <a:solidFill>
              <a:srgbClr val="F44336"/>
            </a:solidFill>
            <a:prstDash val="solid"/>
          </a:ln>
          <a:effectLst>
            <a:outerShdw blurRad="101600" dist="38100" dir="8100000" algn="bl" rotWithShape="0">
              <a:srgbClr val="1B2A1B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49440" y="86868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443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&lt;30min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949440" y="1371600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Duration of the crash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320" y="182880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43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Primary Causes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2194560"/>
            <a:ext cx="41148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Execution of a large $4.1B algorithmic sell order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Aggressive HFT feedback loops amplified selling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Rapid liquidity evaporation in milliseconds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Inadequate real-time monitoring &amp; risk controls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3562350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Relevance to Our Project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/>
        </p:nvGraphicFramePr>
        <p:xfrm>
          <a:off x="274320" y="3844925"/>
          <a:ext cx="8595360" cy="1219200"/>
        </p:xfrm>
        <a:graphic>
          <a:graphicData uri="http://schemas.openxmlformats.org/drawingml/2006/table">
            <a:tbl>
              <a:tblPr/>
              <a:tblGrid>
                <a:gridCol w="4297680"/>
                <a:gridCol w="4297680"/>
              </a:tblGrid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3A1B"/>
                          </a:solidFill>
                        </a:rPr>
                        <a:t>2010 Vulnerability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88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88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88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88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3A1B"/>
                          </a:solidFill>
                        </a:rPr>
                        <a:t>Our Proposed Solution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88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88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88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88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4A2D"/>
                          </a:solidFill>
                        </a:rPr>
                        <a:t>Absence of real-time anomaly detection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88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88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88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88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5E20"/>
                          </a:solidFill>
                        </a:rPr>
                        <a:t>Kafka + ELK Stack continuous monitoring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88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88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88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88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4A2D"/>
                          </a:solidFill>
                        </a:rPr>
                        <a:t>Delayed identification of abnormal activity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88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88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88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88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5E20"/>
                          </a:solidFill>
                        </a:rPr>
                        <a:t>Real-time latency spike &amp; pattern detection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88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88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88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88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4A2D"/>
                          </a:solidFill>
                        </a:rPr>
                        <a:t>Lack of automated intervention mechanism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88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88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88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88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5E20"/>
                          </a:solidFill>
                        </a:rPr>
                        <a:t>Instant Kill Switch disconnects algorithm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88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88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88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88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4A2D"/>
                          </a:solidFill>
                        </a:rPr>
                        <a:t>Conflict between speed and security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88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88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88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88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5E20"/>
                          </a:solidFill>
                        </a:rPr>
                        <a:t>Secure, low-latency streaming architecture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88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88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88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88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4663440" y="1828800"/>
            <a:ext cx="420624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5E2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54880" y="1901952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Lesson: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754880" y="2212848"/>
            <a:ext cx="4023360" cy="1261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2010 Flash Crash demonstrated that in high-frequency trading, speed without robust security and control mechanisms can result in catastrophic market disruption worth over $1 trillion.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14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914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08176" y="914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66544" y="914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24912" y="914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0" y="914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41648" y="914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0016" y="914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58384" y="914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16752" y="914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75120" y="914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33488" y="914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91856" y="914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50224" y="914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" y="7315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7315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08176" y="7315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66544" y="7315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24912" y="7315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83280" y="7315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41648" y="7315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0016" y="7315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58384" y="7315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16752" y="7315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75120" y="7315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33488" y="7315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91856" y="7315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50224" y="7315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440" y="13716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" y="13716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408176" y="13716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66544" y="13716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24912" y="13716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3280" y="13716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41648" y="13716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00016" y="13716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58384" y="13716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16752" y="13716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75120" y="13716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33488" y="13716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991856" y="13716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650224" y="13716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1440" y="201168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9808" y="201168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08176" y="201168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066544" y="201168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24912" y="201168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383280" y="201168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041648" y="201168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00016" y="201168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58384" y="201168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016752" y="201168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675120" y="201168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333488" y="201168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991856" y="201168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650224" y="201168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1440" y="265176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49808" y="265176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408176" y="265176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066544" y="265176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724912" y="265176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383280" y="265176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041648" y="265176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700016" y="265176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358384" y="265176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016752" y="265176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675120" y="265176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333488" y="265176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991856" y="265176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650224" y="265176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1440" y="32918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49808" y="32918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408176" y="32918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066544" y="32918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24912" y="32918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383280" y="32918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041648" y="32918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700016" y="32918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358384" y="32918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016752" y="32918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675120" y="32918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33488" y="32918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991856" y="32918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650224" y="329184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1440" y="39319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49808" y="39319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408176" y="39319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066544" y="39319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724912" y="39319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383280" y="39319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041648" y="39319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700016" y="39319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358384" y="39319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016752" y="39319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675120" y="39319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333488" y="39319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991856" y="39319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650224" y="393192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1440" y="45720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49808" y="45720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408176" y="45720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066544" y="45720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724912" y="45720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383280" y="45720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041648" y="45720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700016" y="45720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358384" y="45720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016752" y="45720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675120" y="45720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333488" y="45720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991856" y="45720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650224" y="4572000"/>
            <a:ext cx="36576" cy="36576"/>
          </a:xfrm>
          <a:prstGeom prst="ellipse">
            <a:avLst/>
          </a:prstGeom>
          <a:solidFill>
            <a:srgbClr val="1B5E20">
              <a:alpha val="15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500" dirty="0">
                <a:solidFill>
                  <a:srgbClr val="1B5E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 &amp; Q&amp;A</a:t>
            </a:r>
            <a:endParaRPr lang="en-US" sz="2000" dirty="0"/>
          </a:p>
        </p:txBody>
      </p:sp>
      <p:sp>
        <p:nvSpPr>
          <p:cNvPr id="116" name="Text 114"/>
          <p:cNvSpPr/>
          <p:nvPr/>
        </p:nvSpPr>
        <p:spPr>
          <a:xfrm>
            <a:off x="365760" y="777240"/>
            <a:ext cx="5303520" cy="3931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Speed &amp; Security coexist: Real-time Kafka streaming without sacrificing low-latency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Anomaly Detection is feasible: Kafka + ELK enables real-time monitoring of suspicious patterns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Protection works: Kill Switch disconnects compromised algorithms instantly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Architecture: Exchange → Kafka → Logstash → Elasticsearch → Kibana → Kill Switch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Compliance achieved: Fully aligns with Regulation SCI, MiFID II — CIA + Accountability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D4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lesson from Flash Crash: Automation &amp; monitoring are not optional — they are essential</a:t>
            </a:r>
            <a:endParaRPr lang="en-US" sz="1300" dirty="0"/>
          </a:p>
        </p:txBody>
      </p:sp>
      <p:sp>
        <p:nvSpPr>
          <p:cNvPr id="117" name="Shape 115"/>
          <p:cNvSpPr/>
          <p:nvPr/>
        </p:nvSpPr>
        <p:spPr>
          <a:xfrm>
            <a:off x="5943600" y="777240"/>
            <a:ext cx="292608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5E2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943600" y="777240"/>
            <a:ext cx="2926080" cy="5486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035040" y="1097280"/>
            <a:ext cx="27432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1B5E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is not an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i="1" dirty="0">
                <a:solidFill>
                  <a:srgbClr val="1B5E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option in HFT —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i="1" dirty="0">
                <a:solidFill>
                  <a:srgbClr val="1B5E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is a prerequisite.</a:t>
            </a:r>
            <a:endParaRPr lang="en-US" sz="2000" dirty="0"/>
          </a:p>
        </p:txBody>
      </p:sp>
      <p:sp>
        <p:nvSpPr>
          <p:cNvPr id="120" name="Shape 118"/>
          <p:cNvSpPr/>
          <p:nvPr/>
        </p:nvSpPr>
        <p:spPr>
          <a:xfrm>
            <a:off x="6492240" y="2606040"/>
            <a:ext cx="1920240" cy="36576"/>
          </a:xfrm>
          <a:prstGeom prst="rect">
            <a:avLst/>
          </a:prstGeom>
          <a:solidFill>
            <a:srgbClr val="1B5E20">
              <a:alpha val="50000"/>
            </a:srgbClr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035040" y="2743200"/>
            <a:ext cx="27432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"Thank you for your time.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floor is open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technical questions."</a:t>
            </a:r>
            <a:endParaRPr lang="en-US" sz="1100" dirty="0"/>
          </a:p>
        </p:txBody>
      </p:sp>
      <p:sp>
        <p:nvSpPr>
          <p:cNvPr id="122" name="Text 120"/>
          <p:cNvSpPr/>
          <p:nvPr/>
        </p:nvSpPr>
        <p:spPr>
          <a:xfrm>
            <a:off x="6035040" y="411480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Anshra Subhaniee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EduQual Level 3 — Topic 32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9251</Words>
  <Application>WPS Presentation</Application>
  <PresentationFormat>On-screen Show (16:9)</PresentationFormat>
  <Paragraphs>571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SimSun</vt:lpstr>
      <vt:lpstr>Wingdings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 in High-Frequency Finance</dc:title>
  <dc:creator>PptxGenJS</dc:creator>
  <dc:subject>PptxGenJS Presentation</dc:subject>
  <cp:lastModifiedBy>Anshra Subhaniee</cp:lastModifiedBy>
  <cp:revision>3</cp:revision>
  <dcterms:created xsi:type="dcterms:W3CDTF">2026-06-01T05:22:00Z</dcterms:created>
  <dcterms:modified xsi:type="dcterms:W3CDTF">2026-06-01T05:45:41Z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AEDC218E96C140EC965474B273F80D4A_13</vt:lpwstr>
  </property>
  <property fmtid="{D5CDD505-2E9C-101B-9397-08002B2CF9AE}" pid="3" name="KSOProductBuildVer">
    <vt:lpwstr>1033-12.1.0.26372</vt:lpwstr>
  </property>
</Properties>
</file>
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67" r:id="rId16"/>
    <p:sldId id="268" r:id="rId17"/>
    <p:sldId id="271" r:id="rId18"/>
    <p:sldId id="272" r:id="rId19"/>
    <p:sldId id="273" r:id="rId20"/>
    <p:sldId id="274" r:id="rId21"/>
    <p:sldId id="275" r:id="rId22"/>
    <p:sldId id="269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18.png"/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7.jpeg"/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29.pn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2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4.png"/><Relationship Id="rId4" Type="http://schemas.openxmlformats.org/officeDocument/2006/relationships/image" Target="../media/image18.png"/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9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7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25.png"/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IN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5943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High-Frequency Finance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Protecting Speed-Sensitive Platforms from Manipulation and Disruption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108960"/>
            <a:ext cx="3200400" cy="365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Anshra Subhaniee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Diploma in Cloud Cyber Security  |  EduQual Level 3  |  Topic 32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82296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82296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961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120700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HFT Ecosystem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320" y="1572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Basics of HFT &amp; algorithmic trading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77440" y="82296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77440" y="82296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8961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487168" y="120700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Landscape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487168" y="1572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&amp; integrity risks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90288" y="82296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90288" y="82296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8961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47488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00016" y="120700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Monitoring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700016" y="1572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+ ELK anomaly detection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803136" y="82296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03136" y="82296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8961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0336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912864" y="120700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Comms &amp; Access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912864" y="1572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TLS, mTLS, RBAC, MFA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164592" y="214884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64592" y="214884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2199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21792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274320" y="2532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&amp; Network Arch.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274320" y="2898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FPGA gateways, VLAN, NVMe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377440" y="214884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377440" y="214884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7168" y="222199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834640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2487168" y="2532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2487168" y="2898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Kafka streaming, Kibana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590288" y="214884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590288" y="214884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2221992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047488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4700016" y="2532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&amp; Recovery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4700016" y="2898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switch, failover, post-mortem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6803136" y="214884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803136" y="214884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2864" y="2221992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260336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6912864" y="2532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Policies &amp; Governance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6912864" y="28986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 SCI, MiFID II, RACI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164592" y="347472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164592" y="347472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3547872"/>
            <a:ext cx="274320" cy="27432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621792" y="35204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56" name="Text 45"/>
          <p:cNvSpPr/>
          <p:nvPr/>
        </p:nvSpPr>
        <p:spPr>
          <a:xfrm>
            <a:off x="274320" y="3858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Architecture</a:t>
            </a:r>
            <a:endParaRPr lang="en-US" sz="1050" dirty="0"/>
          </a:p>
        </p:txBody>
      </p:sp>
      <p:sp>
        <p:nvSpPr>
          <p:cNvPr id="57" name="Text 46"/>
          <p:cNvSpPr/>
          <p:nvPr/>
        </p:nvSpPr>
        <p:spPr>
          <a:xfrm>
            <a:off x="274320" y="42245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diagram + Cloud VPC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2377440" y="347472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Shape 48"/>
          <p:cNvSpPr/>
          <p:nvPr/>
        </p:nvSpPr>
        <p:spPr>
          <a:xfrm>
            <a:off x="2377440" y="347472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7168" y="3547872"/>
            <a:ext cx="274320" cy="274320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2834640" y="35204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62" name="Text 50"/>
          <p:cNvSpPr/>
          <p:nvPr/>
        </p:nvSpPr>
        <p:spPr>
          <a:xfrm>
            <a:off x="2487168" y="3858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Containment &amp; Recovery</a:t>
            </a:r>
            <a:endParaRPr lang="en-US" sz="1050" dirty="0"/>
          </a:p>
        </p:txBody>
      </p:sp>
      <p:sp>
        <p:nvSpPr>
          <p:cNvPr id="63" name="Text 51"/>
          <p:cNvSpPr/>
          <p:nvPr/>
        </p:nvSpPr>
        <p:spPr>
          <a:xfrm>
            <a:off x="2487168" y="42245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response flow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4590288" y="347472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Shape 53"/>
          <p:cNvSpPr/>
          <p:nvPr/>
        </p:nvSpPr>
        <p:spPr>
          <a:xfrm>
            <a:off x="4590288" y="347472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016" y="3547872"/>
            <a:ext cx="274320" cy="274320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5047488" y="35204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100" dirty="0"/>
          </a:p>
        </p:txBody>
      </p:sp>
      <p:sp>
        <p:nvSpPr>
          <p:cNvPr id="68" name="Text 55"/>
          <p:cNvSpPr/>
          <p:nvPr/>
        </p:nvSpPr>
        <p:spPr>
          <a:xfrm>
            <a:off x="4700016" y="3858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Study: 2010 Flash Crash</a:t>
            </a:r>
            <a:endParaRPr lang="en-US" sz="1050" dirty="0"/>
          </a:p>
        </p:txBody>
      </p:sp>
      <p:sp>
        <p:nvSpPr>
          <p:cNvPr id="69" name="Text 56"/>
          <p:cNvSpPr/>
          <p:nvPr/>
        </p:nvSpPr>
        <p:spPr>
          <a:xfrm>
            <a:off x="4700016" y="42245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 applied</a:t>
            </a:r>
            <a:endParaRPr lang="en-US" sz="900" dirty="0"/>
          </a:p>
        </p:txBody>
      </p:sp>
      <p:sp>
        <p:nvSpPr>
          <p:cNvPr id="70" name="Shape 57"/>
          <p:cNvSpPr/>
          <p:nvPr/>
        </p:nvSpPr>
        <p:spPr>
          <a:xfrm>
            <a:off x="6803136" y="3474720"/>
            <a:ext cx="2103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1" name="Shape 58"/>
          <p:cNvSpPr/>
          <p:nvPr/>
        </p:nvSpPr>
        <p:spPr>
          <a:xfrm>
            <a:off x="6803136" y="3474720"/>
            <a:ext cx="64008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72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2864" y="3547872"/>
            <a:ext cx="274320" cy="274320"/>
          </a:xfrm>
          <a:prstGeom prst="rect">
            <a:avLst/>
          </a:prstGeom>
        </p:spPr>
      </p:pic>
      <p:sp>
        <p:nvSpPr>
          <p:cNvPr id="73" name="Text 59"/>
          <p:cNvSpPr/>
          <p:nvPr/>
        </p:nvSpPr>
        <p:spPr>
          <a:xfrm>
            <a:off x="7260336" y="35204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100" dirty="0"/>
          </a:p>
        </p:txBody>
      </p:sp>
      <p:sp>
        <p:nvSpPr>
          <p:cNvPr id="74" name="Text 60"/>
          <p:cNvSpPr/>
          <p:nvPr/>
        </p:nvSpPr>
        <p:spPr>
          <a:xfrm>
            <a:off x="6912864" y="38587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Q&amp;A</a:t>
            </a:r>
            <a:endParaRPr lang="en-US" sz="1050" dirty="0"/>
          </a:p>
        </p:txBody>
      </p:sp>
      <p:sp>
        <p:nvSpPr>
          <p:cNvPr id="75" name="Text 61"/>
          <p:cNvSpPr/>
          <p:nvPr/>
        </p:nvSpPr>
        <p:spPr>
          <a:xfrm>
            <a:off x="6912864" y="42245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BASICS OF HFT AND ALGORITHMIC TRADING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8755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62763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HFT Definition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084832"/>
            <a:ext cx="246888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Trading that uses powerful computers to execute thousands to millions of orders per second at microsecond speeds — faster than a human blink.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0" y="822960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8755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162763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Algorithmic Trading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37560" y="2084832"/>
            <a:ext cx="246888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Programs that automatically trade based on predefined instructions (price, timing, volume). No human intervention — pure code decisions.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26480" y="822960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98755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162763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Security Matters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63640" y="2084832"/>
            <a:ext cx="246888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latency injection, data tampering, or unauthorized access can cause cascading failures worth billions in seconds. Security is mission-critical.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3977640"/>
            <a:ext cx="2743200" cy="8229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274320" y="400507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 µs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74320" y="44074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speed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0" y="3977640"/>
            <a:ext cx="2743200" cy="8229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3200400" y="400507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50%+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3200400" y="44074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equities volume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126480" y="3977640"/>
            <a:ext cx="2743200" cy="8229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126480" y="400507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126480" y="44074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Uptime requirement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THREAT LANDSCAPE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9418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9235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Latency Attacks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92608" y="13533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Weaponizing time — injecting microsecond delays to make competitors' data obsolete, gaining unfair market advantage.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72968" y="8046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2968" y="8046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9418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9235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Tampering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282696" y="13533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Poisoning price/volume feeds — unauthorized changes trigger wrong algorithmic decisions, causing flash crashes.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8046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63056" y="8046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9418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5976" y="9235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DDoS Attacks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72784" y="13533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Flooding trading infrastructure with traffic, causing system downtime and financial losses within seconds.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82880" y="28620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2880" y="28620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99923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29809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Man-in-the-Middle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292608" y="34107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Intercepting trading communications between exchange and firm — exposing sensitive order data and strategies.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172968" y="28620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72968" y="28620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299923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75888" y="29809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Unauthorized Access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282696" y="34107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Compromised credentials allow fraudulent trades or theft of proprietary trading algorithms.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63056" y="2862072"/>
            <a:ext cx="2834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63056" y="2862072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299923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65976" y="29809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Theft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272784" y="3410712"/>
            <a:ext cx="2606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Exfiltration of trading algorithms — IP theft giving competitors an illegal edge and regulatory exposure.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MONITORING &amp; ANOMALY DETECTION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64592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8961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Exchange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64592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ticks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orders, quotes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490472" y="150876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0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89611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Kafka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645920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 1.3 + SASL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High-throughput broker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971800" y="150876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127248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89611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27248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Logstash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127248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Parse, transform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enrichment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4453128" y="150876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08576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89611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08576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Elasticsearch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4608576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&amp; store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searching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5934456" y="150876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89904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896112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89904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6089904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 &amp; alerts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7415784" y="150876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571232" y="804672"/>
            <a:ext cx="13258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432" y="896112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71232" y="1371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7571232" y="170078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Auto-disconnect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compromised algo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274320" y="242316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 LOGIC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164592" y="2834640"/>
            <a:ext cx="1627632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58952" y="2907792"/>
            <a:ext cx="411480" cy="4114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758952" y="29260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3401568"/>
            <a:ext cx="411480" cy="4114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37744" y="388620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237744" y="422452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 watches latency &amp; volume in real-time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1947672" y="2834640"/>
            <a:ext cx="1627632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2542032" y="2907792"/>
            <a:ext cx="411480" cy="4114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2542032" y="29260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032" y="3401568"/>
            <a:ext cx="411480" cy="41148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2020824" y="388620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2020824" y="422452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breach? Abnormal pattern? Suspicious access?</a:t>
            </a:r>
            <a:endParaRPr lang="en-US" sz="850" dirty="0"/>
          </a:p>
        </p:txBody>
      </p:sp>
      <p:sp>
        <p:nvSpPr>
          <p:cNvPr id="46" name="Shape 36"/>
          <p:cNvSpPr/>
          <p:nvPr/>
        </p:nvSpPr>
        <p:spPr>
          <a:xfrm>
            <a:off x="3730752" y="2834640"/>
            <a:ext cx="1627632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4325112" y="2907792"/>
            <a:ext cx="411480" cy="4114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325112" y="29260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5112" y="3401568"/>
            <a:ext cx="411480" cy="41148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3803904" y="388620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3803904" y="422452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fired via Elasticsearch Watcher rules</a:t>
            </a:r>
            <a:endParaRPr lang="en-US" sz="850" dirty="0"/>
          </a:p>
        </p:txBody>
      </p:sp>
      <p:sp>
        <p:nvSpPr>
          <p:cNvPr id="52" name="Shape 41"/>
          <p:cNvSpPr/>
          <p:nvPr/>
        </p:nvSpPr>
        <p:spPr>
          <a:xfrm>
            <a:off x="5513832" y="2834640"/>
            <a:ext cx="1627632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6108192" y="2907792"/>
            <a:ext cx="411480" cy="41148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6108192" y="29260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192" y="3401568"/>
            <a:ext cx="411480" cy="41148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5586984" y="388620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</a:t>
            </a:r>
            <a:endParaRPr lang="en-US" sz="1000" dirty="0"/>
          </a:p>
        </p:txBody>
      </p:sp>
      <p:sp>
        <p:nvSpPr>
          <p:cNvPr id="57" name="Text 45"/>
          <p:cNvSpPr/>
          <p:nvPr/>
        </p:nvSpPr>
        <p:spPr>
          <a:xfrm>
            <a:off x="5586984" y="422452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instantly disconnected</a:t>
            </a:r>
            <a:endParaRPr lang="en-US" sz="850" dirty="0"/>
          </a:p>
        </p:txBody>
      </p:sp>
      <p:sp>
        <p:nvSpPr>
          <p:cNvPr id="58" name="Shape 46"/>
          <p:cNvSpPr/>
          <p:nvPr/>
        </p:nvSpPr>
        <p:spPr>
          <a:xfrm>
            <a:off x="7296912" y="2834640"/>
            <a:ext cx="1627632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Shape 47"/>
          <p:cNvSpPr/>
          <p:nvPr/>
        </p:nvSpPr>
        <p:spPr>
          <a:xfrm>
            <a:off x="7891272" y="2907792"/>
            <a:ext cx="411480" cy="4114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0" name="Text 48"/>
          <p:cNvSpPr/>
          <p:nvPr/>
        </p:nvSpPr>
        <p:spPr>
          <a:xfrm>
            <a:off x="7891272" y="29260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1272" y="3401568"/>
            <a:ext cx="411480" cy="41148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7370064" y="388620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&amp; Recover</a:t>
            </a:r>
            <a:endParaRPr lang="en-US" sz="1000" dirty="0"/>
          </a:p>
        </p:txBody>
      </p:sp>
      <p:sp>
        <p:nvSpPr>
          <p:cNvPr id="63" name="Text 50"/>
          <p:cNvSpPr/>
          <p:nvPr/>
        </p:nvSpPr>
        <p:spPr>
          <a:xfrm>
            <a:off x="7370064" y="422452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Forensic logs preserved for post-mortem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COMMUNICATION &amp; ACCESS CONTROL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144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Communication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14356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 1.3 encryption protects all data in transit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18928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Mutual TLS (mTLS) used between Kafka, Elasticsearch &amp; Kibana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7744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5800" y="23500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channels are secured end-to-end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83464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5800" y="28072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Trust + network segmentation applied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9184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85800" y="32644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Encrypted FIX protocol for order messaging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749040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85800" y="37216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 certificate rotation &amp; lifecycle management</a:t>
            </a:r>
            <a:endParaRPr lang="en-US" sz="1000" dirty="0"/>
          </a:p>
        </p:txBody>
      </p:sp>
      <p:sp>
        <p:nvSpPr>
          <p:cNvPr id="19" name="Shape 10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914400"/>
            <a:ext cx="411480" cy="4114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394960" y="9144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Control</a:t>
            </a:r>
            <a:endParaRPr lang="en-US" sz="14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63040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66360" y="14356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Control (RBAC) by job function</a:t>
            </a:r>
            <a:endParaRPr lang="en-US" sz="10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20240"/>
            <a:ext cx="201168" cy="20116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66360" y="18928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Least Privilege Principle enforced on all accounts</a:t>
            </a:r>
            <a:endParaRPr lang="en-US" sz="10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77440"/>
            <a:ext cx="201168" cy="20116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166360" y="23500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Multi-Factor Authentication (MFA) required</a:t>
            </a:r>
            <a:endParaRPr lang="en-US" sz="10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834640"/>
            <a:ext cx="201168" cy="20116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166360" y="28072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Audit Logging of all system actions</a:t>
            </a:r>
            <a:endParaRPr lang="en-US" sz="10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291840"/>
            <a:ext cx="201168" cy="201168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5166360" y="32644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 management with rate limiting</a:t>
            </a:r>
            <a:endParaRPr lang="en-US" sz="100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749040"/>
            <a:ext cx="201168" cy="201168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5166360" y="37216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Privileged Access Workstations (PAW) for admins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&amp; NETWORK ARCHITECTURE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877824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006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EXCHANGE LAYER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726241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710064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Exchange — Real-time data feed (10.0.0.0/24 — DMZ)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2880" y="1284329"/>
            <a:ext cx="8778240" cy="7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30859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LAYER</a:t>
            </a:r>
            <a:endParaRPr lang="en-US" sz="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32477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1308594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FPGA Gateway — Tick-to-Trade | Smart NIC | Kernel Bypass (10.0.1.0/24)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65625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06040" y="1642618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Sanity Checks — Packet filtering &amp; validation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82880" y="2126709"/>
            <a:ext cx="8778240" cy="9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4320" y="2147163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CORE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60800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06040" y="2147163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FPGA-based Trading Engine — Ultra-low latency execution (10.0.2.0/24 — Internal VLAN)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479550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606040" y="246705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Arista 7130 / Cisco Nexus — VLAN Micro-segmentation &lt;100ns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742050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606040" y="272955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Firewall + IDS/IPS — DDoS mitigation | Intrusion detection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182880" y="3173300"/>
            <a:ext cx="8778240" cy="7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274320" y="319205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LAYER</a:t>
            </a:r>
            <a:endParaRPr lang="en-US" sz="8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3204550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606040" y="319205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NVMe Arrays — High-throughput | Kafka &amp; ES indexing</a:t>
            </a:r>
            <a:endParaRPr lang="en-US" sz="9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3556254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606040" y="3542618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AES-256 + mTLS Transport — Replication factor: 3</a:t>
            </a:r>
            <a:endParaRPr lang="en-US" sz="950" dirty="0"/>
          </a:p>
        </p:txBody>
      </p:sp>
      <p:sp>
        <p:nvSpPr>
          <p:cNvPr id="28" name="Shape 18"/>
          <p:cNvSpPr/>
          <p:nvPr/>
        </p:nvSpPr>
        <p:spPr>
          <a:xfrm>
            <a:off x="182880" y="4026709"/>
            <a:ext cx="8778240" cy="7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274320" y="4047163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MGMT LAYER</a:t>
            </a:r>
            <a:endParaRPr lang="en-US" sz="8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4060800"/>
            <a:ext cx="164592" cy="16459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606040" y="4047163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OOB Management Network — Jump Host | MFA gated access</a:t>
            </a:r>
            <a:endParaRPr lang="en-US" sz="95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4406254"/>
            <a:ext cx="164592" cy="16459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606040" y="4392618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+ Audit Logging — Zero Trust | Least Privilege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</a:rPr>
              <a:t>IMPLEMENTATION &amp; DEMONSTRATION</a:t>
            </a:r>
            <a:endParaRPr lang="en-US" sz="1700" b="1" kern="0" spc="200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84124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85039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anose="020F0502020204030204" pitchFamily="34" charset="0"/>
              </a:rPr>
              <a:t>Core Technologies</a:t>
            </a:r>
            <a:endParaRPr lang="en-US" sz="1300" b="1" dirty="0">
              <a:solidFill>
                <a:srgbClr val="0077A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47472" y="1243584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Char char="•"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</a:rPr>
              <a:t>Apache Kafka — Secure high-throughput streaming</a:t>
            </a:r>
            <a:endParaRPr lang="en-US" sz="950" dirty="0">
              <a:solidFill>
                <a:srgbClr val="006080"/>
              </a:solidFill>
              <a:latin typeface="Calibri" panose="020F0502020204030204" pitchFamily="34" charset="0"/>
            </a:endParaRPr>
          </a:p>
          <a:p>
            <a:pPr marL="342900" indent="-342900">
              <a:buChar char="•"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</a:rPr>
              <a:t>ELK Stack — Logstash + Elasticsearch + Kibana</a:t>
            </a:r>
            <a:endParaRPr lang="en-US" sz="950" dirty="0">
              <a:solidFill>
                <a:srgbClr val="006080"/>
              </a:solidFill>
              <a:latin typeface="Calibri" panose="020F0502020204030204" pitchFamily="34" charset="0"/>
            </a:endParaRPr>
          </a:p>
          <a:p>
            <a:pPr marL="342900" indent="-342900">
              <a:buChar char="•"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</a:rPr>
              <a:t>Hybrid Architecture: Kafka on-premise + ELK on cloud</a:t>
            </a:r>
            <a:endParaRPr lang="en-US" sz="950" dirty="0">
              <a:solidFill>
                <a:srgbClr val="006080"/>
              </a:solidFill>
              <a:latin typeface="Calibri" panose="020F0502020204030204" pitchFamily="34" charset="0"/>
            </a:endParaRPr>
          </a:p>
          <a:p>
            <a:pPr marL="342900" indent="-342900">
              <a:buChar char="•"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</a:rPr>
              <a:t>Security: TLS 1.3 + mTLS, SASL/SCRAM, RBAC, Kill Switch</a:t>
            </a:r>
            <a:endParaRPr lang="en-US" sz="950" dirty="0">
              <a:solidFill>
                <a:srgbClr val="00608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17720" y="777240"/>
            <a:ext cx="4297680" cy="3862705"/>
          </a:xfrm>
          <a:prstGeom prst="rect">
            <a:avLst/>
          </a:prstGeom>
          <a:solidFill>
            <a:srgbClr val="F6F8FA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933450"/>
            <a:ext cx="4114800" cy="154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Bahnschrift" panose="020B0502040204020203" charset="0"/>
                <a:cs typeface="Bahnschrift" panose="020B0502040204020203" charset="0"/>
              </a:rPr>
              <a:t># 1. Create Secure Kafka Topic</a:t>
            </a:r>
            <a:endParaRPr lang="en-US" sz="900" b="1" dirty="0">
              <a:solidFill>
                <a:srgbClr val="2E7D32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Bahnschrift" panose="020B0502040204020203" charset="0"/>
                <a:cs typeface="Bahnschrift" panose="020B0502040204020203" charset="0"/>
              </a:rPr>
              <a:t>kafka-topics.sh --create --topic market-data \</a:t>
            </a:r>
            <a:endParaRPr lang="en-US" sz="900" b="1" dirty="0">
              <a:solidFill>
                <a:srgbClr val="2E7D32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Bahnschrift" panose="020B0502040204020203" charset="0"/>
                <a:cs typeface="Bahnschrift" panose="020B0502040204020203" charset="0"/>
              </a:rPr>
              <a:t>  --partitions 12 --replication-factor 3 \</a:t>
            </a:r>
            <a:endParaRPr lang="en-US" sz="900" b="1" dirty="0">
              <a:solidFill>
                <a:srgbClr val="2E7D32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Bahnschrift" panose="020B0502040204020203" charset="0"/>
                <a:cs typeface="Bahnschrift" panose="020B0502040204020203" charset="0"/>
              </a:rPr>
              <a:t>  --bootstrap-server 10.0.1.10:9094 --security-protocol SASL_SSL</a:t>
            </a:r>
            <a:endParaRPr lang="en-US" sz="900" b="1" dirty="0">
              <a:solidFill>
                <a:srgbClr val="2E7D32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1A5C96"/>
                </a:solidFill>
                <a:latin typeface="Bahnschrift" panose="020B0502040204020203" charset="0"/>
                <a:cs typeface="Bahnschrift" panose="020B0502040204020203" charset="0"/>
              </a:rPr>
              <a:t># 2. Producer — publish live market tick</a:t>
            </a:r>
            <a:endParaRPr lang="en-US" sz="900" b="1" dirty="0">
              <a:solidFill>
                <a:srgbClr val="1A5C96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1A5C96"/>
                </a:solidFill>
                <a:latin typeface="Bahnschrift" panose="020B0502040204020203" charset="0"/>
                <a:cs typeface="Bahnschrift" panose="020B0502040204020203" charset="0"/>
              </a:rPr>
              <a:t>echo '{"sym":"AAPL","price":182.5,"ts":1717900800}' | \</a:t>
            </a:r>
            <a:endParaRPr lang="en-US" sz="900" b="1" dirty="0">
              <a:solidFill>
                <a:srgbClr val="1A5C96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1A5C96"/>
                </a:solidFill>
                <a:latin typeface="Bahnschrift" panose="020B0502040204020203" charset="0"/>
                <a:cs typeface="Bahnschrift" panose="020B0502040204020203" charset="0"/>
              </a:rPr>
              <a:t>  kafka-console-producer.sh --topic market-data \</a:t>
            </a:r>
            <a:endParaRPr lang="en-US" sz="900" b="1" dirty="0">
              <a:solidFill>
                <a:srgbClr val="1A5C96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1A5C96"/>
                </a:solidFill>
                <a:latin typeface="Bahnschrift" panose="020B0502040204020203" charset="0"/>
                <a:cs typeface="Bahnschrift" panose="020B0502040204020203" charset="0"/>
              </a:rPr>
              <a:t>  --bootstrap-server 10.0.1.10:9094 --producer.config ssl.properties</a:t>
            </a:r>
            <a:endParaRPr lang="en-US" sz="900" b="1" dirty="0">
              <a:solidFill>
                <a:srgbClr val="1A5C96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8B4513"/>
                </a:solidFill>
                <a:latin typeface="Bahnschrift" panose="020B0502040204020203" charset="0"/>
                <a:cs typeface="Bahnschrift" panose="020B0502040204020203" charset="0"/>
              </a:rPr>
              <a:t># 3. Consumer — read &amp; verify stream</a:t>
            </a:r>
            <a:endParaRPr lang="en-US" sz="900" b="1" dirty="0">
              <a:solidFill>
                <a:srgbClr val="8B4513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8B4513"/>
                </a:solidFill>
                <a:latin typeface="Bahnschrift" panose="020B0502040204020203" charset="0"/>
                <a:cs typeface="Bahnschrift" panose="020B0502040204020203" charset="0"/>
              </a:rPr>
              <a:t>kafka-console-consumer.sh --topic market-data --from-beginning \</a:t>
            </a:r>
            <a:endParaRPr lang="en-US" sz="900" b="1" dirty="0">
              <a:solidFill>
                <a:srgbClr val="8B4513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8B4513"/>
                </a:solidFill>
                <a:latin typeface="Bahnschrift" panose="020B0502040204020203" charset="0"/>
                <a:cs typeface="Bahnschrift" panose="020B0502040204020203" charset="0"/>
              </a:rPr>
              <a:t>  --bootstrap-server 10.0.1.10:9094 --consumer.config ssl.properties</a:t>
            </a:r>
            <a:endParaRPr lang="en-US" sz="900" b="1" dirty="0">
              <a:solidFill>
                <a:srgbClr val="8B4513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Bahnschrift" panose="020B0502040204020203" charset="0"/>
                <a:cs typeface="Bahnschrift" panose="020B0502040204020203" charset="0"/>
              </a:rPr>
              <a:t># Output: {"sym":"AAPL","price":182.5,"ts":1717900800}</a:t>
            </a:r>
            <a:endParaRPr lang="en-US" sz="900" b="1" dirty="0">
              <a:solidFill>
                <a:srgbClr val="555555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50" name="SectionLabel"/>
          <p:cNvSpPr/>
          <p:nvPr/>
        </p:nvSpPr>
        <p:spPr>
          <a:xfrm>
            <a:off x="228600" y="2350000"/>
            <a:ext cx="86868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</a:rPr>
              <a:t>Live Kibana Dashboard — Real System Output</a:t>
            </a: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60" name="Card1"/>
          <p:cNvSpPr/>
          <p:nvPr/>
        </p:nvSpPr>
        <p:spPr>
          <a:xfrm>
            <a:off x="228600" y="2649855"/>
            <a:ext cx="2743200" cy="24866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1" name="Card1Bar"/>
          <p:cNvSpPr/>
          <p:nvPr/>
        </p:nvSpPr>
        <p:spPr>
          <a:xfrm>
            <a:off x="228600" y="2650000"/>
            <a:ext cx="2743200" cy="55000"/>
          </a:xfrm>
          <a:prstGeom prst="rect">
            <a:avLst/>
          </a:prstGeom>
          <a:solidFill>
            <a:srgbClr val="0077A8"/>
          </a:solidFill>
          <a:ln w="0">
            <a:noFill/>
          </a:ln>
        </p:spPr>
      </p:sp>
      <p:pic>
        <p:nvPicPr>
          <p:cNvPr id="62" name="KibanaLaten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00" y="2730000"/>
            <a:ext cx="2580000" cy="1600000"/>
          </a:xfrm>
          <a:prstGeom prst="rect">
            <a:avLst/>
          </a:prstGeom>
        </p:spPr>
      </p:pic>
      <p:sp>
        <p:nvSpPr>
          <p:cNvPr id="63" name="Card1Label"/>
          <p:cNvSpPr/>
          <p:nvPr/>
        </p:nvSpPr>
        <p:spPr>
          <a:xfrm>
            <a:off x="310000" y="4380000"/>
            <a:ext cx="258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</a:rPr>
              <a:t>Latency Spike Detection</a:t>
            </a: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Card1Desc"/>
          <p:cNvSpPr/>
          <p:nvPr/>
        </p:nvSpPr>
        <p:spPr>
          <a:xfrm>
            <a:off x="310000" y="4660000"/>
            <a:ext cx="2580000" cy="7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</a:rPr>
              <a:t>Median latency spikes to 800µs — Kibana flags anomaly, triggering Kill Switch</a:t>
            </a:r>
            <a:endParaRPr lang="en-US" sz="850" dirty="0">
              <a:solidFill>
                <a:srgbClr val="006080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Card2"/>
          <p:cNvSpPr/>
          <p:nvPr/>
        </p:nvSpPr>
        <p:spPr>
          <a:xfrm>
            <a:off x="3200400" y="2649855"/>
            <a:ext cx="2743200" cy="24917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1" name="Card2Bar"/>
          <p:cNvSpPr/>
          <p:nvPr/>
        </p:nvSpPr>
        <p:spPr>
          <a:xfrm>
            <a:off x="3200400" y="2650000"/>
            <a:ext cx="2743200" cy="55000"/>
          </a:xfrm>
          <a:prstGeom prst="rect">
            <a:avLst/>
          </a:prstGeom>
          <a:solidFill>
            <a:srgbClr val="0077A8"/>
          </a:solidFill>
          <a:ln w="0">
            <a:noFill/>
          </a:ln>
        </p:spPr>
      </p:sp>
      <p:pic>
        <p:nvPicPr>
          <p:cNvPr id="72" name="KibanaPr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000" y="2730000"/>
            <a:ext cx="2580000" cy="1600000"/>
          </a:xfrm>
          <a:prstGeom prst="rect">
            <a:avLst/>
          </a:prstGeom>
        </p:spPr>
      </p:pic>
      <p:sp>
        <p:nvSpPr>
          <p:cNvPr id="73" name="Card2Label"/>
          <p:cNvSpPr/>
          <p:nvPr/>
        </p:nvSpPr>
        <p:spPr>
          <a:xfrm>
            <a:off x="3280000" y="4380000"/>
            <a:ext cx="258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</a:rPr>
              <a:t>Live Symbol Price Feed</a:t>
            </a: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Card2Desc"/>
          <p:cNvSpPr/>
          <p:nvPr/>
        </p:nvSpPr>
        <p:spPr>
          <a:xfrm>
            <a:off x="3280000" y="4660000"/>
            <a:ext cx="2580000" cy="7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</a:rPr>
              <a:t>GOOG, AAPL, TSLA, MSFT median prices ~$305-315 — confirms live Kafka stream integrity</a:t>
            </a:r>
            <a:endParaRPr lang="en-US" sz="850" dirty="0">
              <a:solidFill>
                <a:srgbClr val="006080"/>
              </a:solidFill>
              <a:latin typeface="Calibri" panose="020F0502020204030204" pitchFamily="34" charset="0"/>
            </a:endParaRPr>
          </a:p>
        </p:txBody>
      </p:sp>
      <p:sp>
        <p:nvSpPr>
          <p:cNvPr id="80" name="Card3"/>
          <p:cNvSpPr/>
          <p:nvPr/>
        </p:nvSpPr>
        <p:spPr>
          <a:xfrm>
            <a:off x="6172200" y="2649855"/>
            <a:ext cx="2743200" cy="2498090"/>
          </a:xfrm>
          <a:prstGeom prst="rect">
            <a:avLst/>
          </a:prstGeom>
          <a:solidFill>
            <a:srgbClr val="FFFFFF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1" name="Card3Bar"/>
          <p:cNvSpPr/>
          <p:nvPr/>
        </p:nvSpPr>
        <p:spPr>
          <a:xfrm>
            <a:off x="6172200" y="2650000"/>
            <a:ext cx="2743200" cy="55000"/>
          </a:xfrm>
          <a:prstGeom prst="rect">
            <a:avLst/>
          </a:prstGeom>
          <a:solidFill>
            <a:srgbClr val="FF4444"/>
          </a:solidFill>
          <a:ln w="0">
            <a:noFill/>
          </a:ln>
        </p:spPr>
      </p:sp>
      <p:pic>
        <p:nvPicPr>
          <p:cNvPr id="82" name="KibanaVolu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000" y="2730000"/>
            <a:ext cx="2580000" cy="1600000"/>
          </a:xfrm>
          <a:prstGeom prst="rect">
            <a:avLst/>
          </a:prstGeom>
        </p:spPr>
      </p:pic>
      <p:sp>
        <p:nvSpPr>
          <p:cNvPr id="83" name="Card3Label"/>
          <p:cNvSpPr/>
          <p:nvPr/>
        </p:nvSpPr>
        <p:spPr>
          <a:xfrm>
            <a:off x="6252000" y="4380000"/>
            <a:ext cx="258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666"/>
                </a:solidFill>
                <a:latin typeface="Calibri" panose="020F0502020204030204" pitchFamily="34" charset="0"/>
              </a:rPr>
              <a:t>Median Volume: 2,513</a:t>
            </a:r>
            <a:endParaRPr lang="en-US" sz="1000" b="1" dirty="0">
              <a:solidFill>
                <a:srgbClr val="FF6666"/>
              </a:solidFill>
              <a:latin typeface="Calibri" panose="020F0502020204030204" pitchFamily="34" charset="0"/>
            </a:endParaRPr>
          </a:p>
        </p:txBody>
      </p:sp>
      <p:sp>
        <p:nvSpPr>
          <p:cNvPr id="84" name="Card3Desc"/>
          <p:cNvSpPr/>
          <p:nvPr/>
        </p:nvSpPr>
        <p:spPr>
          <a:xfrm>
            <a:off x="6252000" y="4660000"/>
            <a:ext cx="2580000" cy="7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</a:rPr>
              <a:t>Real-time volume tracking — unusual drops trigger anomaly alerts instantly</a:t>
            </a:r>
            <a:endParaRPr lang="en-US" sz="850" dirty="0">
              <a:solidFill>
                <a:srgbClr val="00608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&amp; RECOVERY SCENARIOS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057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057400" cy="7315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969264"/>
            <a:ext cx="502920" cy="50292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8191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" y="217627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587752"/>
            <a:ext cx="18745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ELK/Kafka detects strategy drift or network failure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</a:rPr>
              <a:t>Network failure: missed heartbeat &gt;500ms timeout triggers alert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86000" y="23774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41448" y="804672"/>
            <a:ext cx="2057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41448" y="804672"/>
            <a:ext cx="2057400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969264"/>
            <a:ext cx="502920" cy="50292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18688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581912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14600" y="217627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INTERVENTION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532888" y="2587752"/>
            <a:ext cx="18745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Kill-Switch triggered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Pending orders purged immediately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disconnected from exchange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498848" y="23774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54296" y="804672"/>
            <a:ext cx="2057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54296" y="804672"/>
            <a:ext cx="2057400" cy="7315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31536" y="969264"/>
            <a:ext cx="502920" cy="50292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31536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1581912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27448" y="217627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FAILOVER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745736" y="2587752"/>
            <a:ext cx="18745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 switch to hot-standby node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</a:rPr>
              <a:t>Hot-standby synced via Kafka replication (factor 3) — state lag &lt;1ms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</a:rPr>
              <a:t>Secondary data center takes over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interruption to market position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711696" y="23774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67144" y="804672"/>
            <a:ext cx="2057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67144" y="804672"/>
            <a:ext cx="2057400" cy="7315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644384" y="969264"/>
            <a:ext cx="502920" cy="502920"/>
          </a:xfrm>
          <a:prstGeom prst="ellipse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644384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1581912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40296" y="217627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958584" y="2587752"/>
            <a:ext cx="18745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Post-mortem log analysis in Elasticsearch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</a:rPr>
              <a:t>Auto-restore: replay Kafka offset from last committed checkpoint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</a:rPr>
              <a:t>Phased re-entry after verification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228600" y="4206240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 Protocol:  ELK detects anomaly → Threshold check → Kafka consumer halted → Exchange gateway disconnected → Audit log written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POLICIES, PROCEDURES &amp; GOVERNANCE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01168" y="784225"/>
            <a:ext cx="283464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77240"/>
            <a:ext cx="28346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914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" y="1463040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Policies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92024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18928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streams use TLS 1.3 + mTLS encryption</a:t>
            </a:r>
            <a:endParaRPr lang="en-US" sz="900" dirty="0"/>
          </a:p>
          <a:p>
            <a:pPr marL="0" indent="0">
              <a:buNone/>
            </a:pPr>
            <a:r>
              <a:rPr lang="en-US" sz="780" i="1" dirty="0">
                <a:solidFill>
                  <a:srgbClr val="777777"/>
                </a:solidFill>
                <a:latin typeface="Calibri" panose="020F0502020204030204" pitchFamily="34" charset="0"/>
              </a:rPr>
              <a:t>Why: TLS 1.3 removes legacy cipher suites; mTLS ensures both sides are authenticated — critical between Kafka brokers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39572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23682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+ MFA enforced on Kafka, ELK &amp; trading systems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87121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" y="28437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Anomalies auto-trigger the Kill Switch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334670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" y="33192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changes must be sandbox tested first</a:t>
            </a:r>
            <a:endParaRPr lang="en-US" sz="900" dirty="0"/>
          </a:p>
          <a:p>
            <a:pPr marL="0" indent="0">
              <a:buNone/>
            </a:pPr>
            <a:r>
              <a:rPr lang="en-US" sz="780" i="1" dirty="0">
                <a:solidFill>
                  <a:srgbClr val="777777"/>
                </a:solidFill>
                <a:latin typeface="Calibri" panose="020F0502020204030204" pitchFamily="34" charset="0"/>
              </a:rPr>
              <a:t>Why: untested algo changes caused the 2010 Flash Crash — sandbox prevents live-market feedback loops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382219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48640" y="3794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 retained minimum 7 years (Reg SCI)</a:t>
            </a:r>
            <a:endParaRPr lang="en-US" sz="900" dirty="0"/>
          </a:p>
        </p:txBody>
      </p:sp>
      <p:sp>
        <p:nvSpPr>
          <p:cNvPr id="18" name="Shape 10"/>
          <p:cNvSpPr/>
          <p:nvPr/>
        </p:nvSpPr>
        <p:spPr>
          <a:xfrm>
            <a:off x="3191256" y="777240"/>
            <a:ext cx="283464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3191256" y="777240"/>
            <a:ext cx="2834640" cy="6400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914400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300984" y="1463040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Response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920240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538728" y="18928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— ELK/Kibana identifies anomaly (0–30s) | Role: SOC Analyst</a:t>
            </a:r>
            <a:endParaRPr lang="en-US" sz="9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2395728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3538728" y="23682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Containment — Kill Switch activates instantly (&lt;1s) | Role: Automated System</a:t>
            </a:r>
            <a:endParaRPr lang="en-US" sz="9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2871216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3538728" y="28437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Investigation — Forensic analysis in Elasticsearch (0–2h) | Role: Security Engineer</a:t>
            </a:r>
            <a:endParaRPr lang="en-US" sz="9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3346704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3538728" y="33192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Eradication — Patch vulnerabilities (2–8h) | Role: Dev + SecOps Team</a:t>
            </a:r>
            <a:endParaRPr lang="en-US" sz="9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3822192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3538728" y="3794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— Manual verification + phased restart (8–24h) | Role: Head of Trading + CISO</a:t>
            </a:r>
            <a:endParaRPr lang="en-US" sz="9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4297680"/>
            <a:ext cx="182880" cy="18288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3538728" y="42702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 Learned — Update detection rules</a:t>
            </a:r>
            <a:endParaRPr lang="en-US" sz="900" dirty="0"/>
          </a:p>
        </p:txBody>
      </p:sp>
      <p:sp>
        <p:nvSpPr>
          <p:cNvPr id="34" name="Shape 19"/>
          <p:cNvSpPr/>
          <p:nvPr/>
        </p:nvSpPr>
        <p:spPr>
          <a:xfrm>
            <a:off x="6181344" y="777240"/>
            <a:ext cx="283464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0"/>
          <p:cNvSpPr/>
          <p:nvPr/>
        </p:nvSpPr>
        <p:spPr>
          <a:xfrm>
            <a:off x="6181344" y="777240"/>
            <a:ext cx="2834640" cy="640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914400"/>
            <a:ext cx="457200" cy="457200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291072" y="1463040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Governance &amp; Compliance</a:t>
            </a:r>
            <a:endParaRPr lang="en-US" sz="12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920240"/>
            <a:ext cx="182880" cy="182880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528816" y="18928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adherence to Regulation SCI and MiFID II</a:t>
            </a:r>
            <a:endParaRPr lang="en-US" sz="90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395728"/>
            <a:ext cx="182880" cy="182880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528816" y="23682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Quarterly security audits &amp; penetration testing</a:t>
            </a:r>
            <a:endParaRPr lang="en-US" sz="900" dirty="0"/>
          </a:p>
        </p:txBody>
      </p:sp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871216"/>
            <a:ext cx="182880" cy="182880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6528816" y="28437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policy review and team training</a:t>
            </a:r>
            <a:endParaRPr lang="en-US" sz="900" dirty="0"/>
          </a:p>
        </p:txBody>
      </p:sp>
      <p:pic>
        <p:nvPicPr>
          <p:cNvPr id="44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346704"/>
            <a:ext cx="182880" cy="182880"/>
          </a:xfrm>
          <a:prstGeom prst="rect">
            <a:avLst/>
          </a:prstGeom>
        </p:spPr>
      </p:pic>
      <p:sp>
        <p:nvSpPr>
          <p:cNvPr id="45" name="Text 25"/>
          <p:cNvSpPr/>
          <p:nvPr/>
        </p:nvSpPr>
        <p:spPr>
          <a:xfrm>
            <a:off x="6528816" y="33192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Implements CIA + Accountability principles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SECURITY ARCHITECTURE DIAGRAM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68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Exchange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508760" y="1435608"/>
            <a:ext cx="137160" cy="0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08760" y="12527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164592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8686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Cluster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971800" y="1435608"/>
            <a:ext cx="137160" cy="0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71800" y="12527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310896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8686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0896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Logstash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434840" y="1435608"/>
            <a:ext cx="137160" cy="0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434840" y="12527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</a:t>
            </a:r>
            <a:endParaRPr lang="en-US" sz="600" dirty="0"/>
          </a:p>
        </p:txBody>
      </p:sp>
      <p:sp>
        <p:nvSpPr>
          <p:cNvPr id="19" name="Shape 14"/>
          <p:cNvSpPr/>
          <p:nvPr/>
        </p:nvSpPr>
        <p:spPr>
          <a:xfrm>
            <a:off x="457200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686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Elasticsearch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5897880" y="1435608"/>
            <a:ext cx="137160" cy="0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897880" y="12527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</a:t>
            </a:r>
            <a:endParaRPr lang="en-US" sz="600" dirty="0"/>
          </a:p>
        </p:txBody>
      </p:sp>
      <p:sp>
        <p:nvSpPr>
          <p:cNvPr id="24" name="Shape 18"/>
          <p:cNvSpPr/>
          <p:nvPr/>
        </p:nvSpPr>
        <p:spPr>
          <a:xfrm>
            <a:off x="603504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8686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3504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7360920" y="1435608"/>
            <a:ext cx="137160" cy="0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360920" y="12527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</a:t>
            </a:r>
            <a:endParaRPr lang="en-US" sz="600" dirty="0"/>
          </a:p>
        </p:txBody>
      </p:sp>
      <p:sp>
        <p:nvSpPr>
          <p:cNvPr id="29" name="Shape 22"/>
          <p:cNvSpPr/>
          <p:nvPr/>
        </p:nvSpPr>
        <p:spPr>
          <a:xfrm>
            <a:off x="7498080" y="77724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86868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98080" y="1344168"/>
            <a:ext cx="1325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256032" y="2331720"/>
            <a:ext cx="20574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256032" y="2331720"/>
            <a:ext cx="205740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347472" y="2468880"/>
            <a:ext cx="1874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Pipeline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347472" y="2880360"/>
            <a:ext cx="18745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TLS/mTLS Encrypted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Data Loss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Replication: 3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2468880" y="2331720"/>
            <a:ext cx="20574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6A5AC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2468880" y="2331720"/>
            <a:ext cx="2057400" cy="54864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560320" y="2468880"/>
            <a:ext cx="1874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A5AC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 Analytics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2560320" y="2880360"/>
            <a:ext cx="18745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Logstash → ES → Kibana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monitoring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4681728" y="2331720"/>
            <a:ext cx="20574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681728" y="2331720"/>
            <a:ext cx="20574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773168" y="2468880"/>
            <a:ext cx="1874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 / Protection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4773168" y="2880360"/>
            <a:ext cx="18745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breach → Instant halt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 SCI compliant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 preserved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6894576" y="2331720"/>
            <a:ext cx="20574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6894576" y="2331720"/>
            <a:ext cx="2057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986016" y="2468880"/>
            <a:ext cx="1874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/ Untrusted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6986016" y="2880360"/>
            <a:ext cx="187452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Exchange 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 1.3 enforced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traffic validated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</a:ln>
        </p:spPr>
      </p:sp>
      <p:sp>
        <p:nvSpPr>
          <p:cNvPr id="3" name="Title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</a:rPr>
              <a:t>CLOUD ARCHITECTURE — VPC, SECURITY GROUPS &amp; IAM</a:t>
            </a:r>
            <a:endParaRPr lang="en-US" sz="1700" b="1" kern="0" spc="200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nPremBox"/>
          <p:cNvSpPr/>
          <p:nvPr/>
        </p:nvSpPr>
        <p:spPr>
          <a:xfrm>
            <a:off x="228600" y="760000"/>
            <a:ext cx="2700000" cy="4100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77A8"/>
            </a:solidFill>
          </a:ln>
          <a:effectLst>
            <a:outerShdw blurRad="76200" dist="38100" dir="8100000" rotWithShape="0">
              <a:srgbClr val="000000">
                <a:alpha val="15000"/>
              </a:srgbClr>
            </a:outerShdw>
          </a:effectLst>
        </p:spPr>
      </p:sp>
      <p:sp>
        <p:nvSpPr>
          <p:cNvPr id="11" name="OnPremTitle"/>
          <p:cNvSpPr/>
          <p:nvPr/>
        </p:nvSpPr>
        <p:spPr>
          <a:xfrm>
            <a:off x="300000" y="800000"/>
            <a:ext cx="255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</a:rPr>
              <a:t>ON-PREMISES (10.0.0.0/16)</a:t>
            </a:r>
            <a:endParaRPr lang="en-US" sz="1100" b="1" dirty="0">
              <a:solidFill>
                <a:srgbClr val="0077A8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OnPremContent"/>
          <p:cNvSpPr/>
          <p:nvPr/>
        </p:nvSpPr>
        <p:spPr>
          <a:xfrm>
            <a:off x="300000" y="1150000"/>
            <a:ext cx="2550000" cy="3600000"/>
          </a:xfrm>
          <a:prstGeom prst="rect">
            <a:avLst/>
          </a:prstGeom>
          <a:noFill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 Black" panose="020B0A04020102020204" charset="0"/>
                <a:cs typeface="Arial Black" panose="020B0A04020102020204" charset="0"/>
              </a:rPr>
              <a:t>Apache Kafka Cluster</a:t>
            </a:r>
            <a:endParaRPr lang="en-US" sz="1000" b="1" dirty="0">
              <a:solidFill>
                <a:srgbClr val="1A2E4A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Subnet: 10.0.1.0/24 (VLAN 10)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Brokers: 10.0.1.10–12:9094 (SASL_SSL)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Firewall: deny all except 9094/TLS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 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200" b="1" dirty="0">
              <a:solidFill>
                <a:srgbClr val="444444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 Black" panose="020B0A04020102020204" charset="0"/>
                <a:cs typeface="Arial Black" panose="020B0A04020102020204" charset="0"/>
              </a:rPr>
              <a:t>FPGA Trading Engine</a:t>
            </a:r>
            <a:endParaRPr lang="en-US" sz="1000" b="1" dirty="0">
              <a:solidFill>
                <a:srgbClr val="1A2E4A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Subnet: 10.0.2.0/24 (VLAN 20 — isolated)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VPN IPsec tunnel to cloud ELK (AES-256)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 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 Black" panose="020B0A04020102020204" charset="0"/>
                <a:cs typeface="Arial Black" panose="020B0A04020102020204" charset="0"/>
              </a:rPr>
              <a:t>NVMe Storage Array</a:t>
            </a:r>
            <a:endParaRPr lang="en-US" sz="1000" b="1" dirty="0">
              <a:solidFill>
                <a:srgbClr val="1A2E4A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Subnet: 10.0.3.0/24 | AES-256 at rest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Kafka logs, cert store, audit trail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VPNLabel"/>
          <p:cNvSpPr/>
          <p:nvPr/>
        </p:nvSpPr>
        <p:spPr>
          <a:xfrm>
            <a:off x="3050000" y="2250000"/>
            <a:ext cx="780000" cy="300000"/>
          </a:xfrm>
          <a:prstGeom prst="rect">
            <a:avLst/>
          </a:prstGeom>
          <a:solidFill>
            <a:srgbClr val="1A2E4A"/>
          </a:solidFill>
          <a:ln w="0"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IPsec VPN</a:t>
            </a:r>
            <a:endParaRPr lang="en-US" sz="900" b="1" dirty="0">
              <a:solidFill>
                <a:srgbClr val="FFFFFF"/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30" name="CloudBox"/>
          <p:cNvSpPr/>
          <p:nvPr/>
        </p:nvSpPr>
        <p:spPr>
          <a:xfrm>
            <a:off x="3980000" y="760000"/>
            <a:ext cx="4900000" cy="4100000"/>
          </a:xfrm>
          <a:prstGeom prst="rect">
            <a:avLst/>
          </a:prstGeom>
          <a:solidFill>
            <a:srgbClr val="F0FFF0"/>
          </a:solidFill>
          <a:ln w="15240">
            <a:solidFill>
              <a:srgbClr val="1A7A3A"/>
            </a:solidFill>
          </a:ln>
          <a:effectLst>
            <a:outerShdw blurRad="76200" dist="38100" dir="8100000" rotWithShape="0">
              <a:srgbClr val="000000">
                <a:alpha val="15000"/>
              </a:srgbClr>
            </a:outerShdw>
          </a:effectLst>
        </p:spPr>
      </p:sp>
      <p:sp>
        <p:nvSpPr>
          <p:cNvPr id="31" name="CloudTitle"/>
          <p:cNvSpPr/>
          <p:nvPr/>
        </p:nvSpPr>
        <p:spPr>
          <a:xfrm>
            <a:off x="4050000" y="800000"/>
            <a:ext cx="475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A"/>
                </a:solidFill>
                <a:latin typeface="Calibri" panose="020F0502020204030204" pitchFamily="34" charset="0"/>
              </a:rPr>
              <a:t>CLOUD VPC — ELK Stack (172.16.0.0/16)</a:t>
            </a:r>
            <a:endParaRPr lang="en-US" sz="1100" b="1" dirty="0">
              <a:solidFill>
                <a:srgbClr val="1A7A3A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CloudContent"/>
          <p:cNvSpPr/>
          <p:nvPr/>
        </p:nvSpPr>
        <p:spPr>
          <a:xfrm>
            <a:off x="4050000" y="1150000"/>
            <a:ext cx="4750000" cy="3600000"/>
          </a:xfrm>
          <a:prstGeom prst="rect">
            <a:avLst/>
          </a:prstGeom>
          <a:noFill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 Black" panose="020B0A04020102020204" charset="0"/>
                <a:cs typeface="Arial Black" panose="020B0A04020102020204" charset="0"/>
              </a:rPr>
              <a:t>Logstash (172.16.1.10)</a:t>
            </a:r>
            <a:endParaRPr lang="en-US" sz="1000" b="1" dirty="0">
              <a:solidFill>
                <a:srgbClr val="1A2E4A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Security Group: allow 5044/TLS from on-prem VPN only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IAM Role: logstash-ingest-role (write-only to ES)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</a:t>
            </a:r>
            <a:endParaRPr lang="en-US" sz="10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0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 Black" panose="020B0A04020102020204" charset="0"/>
                <a:cs typeface="Arial Black" panose="020B0A04020102020204" charset="0"/>
              </a:rPr>
              <a:t>Elasticsearch Cluster (172.16.2.10–12)</a:t>
            </a:r>
            <a:endParaRPr lang="en-US" sz="1000" b="1" dirty="0">
              <a:solidFill>
                <a:srgbClr val="1A2E4A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Security Group: allow 9200/TLS from Logstash + Kibana only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IAM Role: es-read-write (Logstash), es-read-only (Kibana)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Key storage: AWS KMS (cert rotation auto every 90 days)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Audit logs: CloudWatch + S3 (immutable, 7-year retention)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</a:t>
            </a:r>
            <a:endParaRPr lang="en-US" sz="10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0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 Black" panose="020B0A04020102020204" charset="0"/>
                <a:cs typeface="Arial Black" panose="020B0A04020102020204" charset="0"/>
              </a:rPr>
              <a:t>Kibana Dashboard (172.16.3.10)</a:t>
            </a:r>
            <a:endParaRPr lang="en-US" sz="1000" b="1" dirty="0">
              <a:solidFill>
                <a:srgbClr val="1A2E4A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Security Group: allow 5601/HTTPS from admin IPs only (MFA)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IAM Role: kibana-viewer (RBAC; no raw ES access)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anose="020F0502020204030204" pitchFamily="34" charset="0"/>
              </a:rPr>
              <a:t>Trust boundary: cloud zone fully isolated from on-prem trading VLAN</a:t>
            </a:r>
            <a:endParaRPr lang="en-US" sz="1000" b="1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CONTAINMENT &amp; POST-INCIDENT RECOVERY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926080" y="777240"/>
            <a:ext cx="329184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84124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93008" y="82296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ELK/Kafka Detects Anomaly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(latency spike / data tampering)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0" y="1508760"/>
            <a:ext cx="0" cy="27432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18288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Breached?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97280" y="2240280"/>
            <a:ext cx="2286000" cy="6858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31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304288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 → Kill Switch Activated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760720" y="2240280"/>
            <a:ext cx="2286000" cy="685800"/>
          </a:xfrm>
          <a:prstGeom prst="rect">
            <a:avLst/>
          </a:prstGeom>
          <a:solidFill>
            <a:srgbClr val="EAFAF1"/>
          </a:solidFill>
          <a:ln w="12700">
            <a:solidFill>
              <a:srgbClr val="1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3317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304288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→ Continue Monitoring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POST-INCIDENT RECOVERY PIPELINE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56032" y="3520440"/>
            <a:ext cx="205740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61188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9184" y="4114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29184" y="441655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ES logs in Kibana to trace root cause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2313432" y="42062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468880" y="3520440"/>
            <a:ext cx="205740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611880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542032" y="4114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A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Eradication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2542032" y="441655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vulnerabilities in trading stack / network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4526280" y="42062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681728" y="3520440"/>
            <a:ext cx="205740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6A5AC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611880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754880" y="4114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5AC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Restore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754880" y="441655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Phased re-entry after manual verification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6739128" y="4206240"/>
            <a:ext cx="155448" cy="0"/>
          </a:xfrm>
          <a:prstGeom prst="line">
            <a:avLst/>
          </a:prstGeom>
          <a:noFill/>
          <a:ln w="25400">
            <a:solidFill>
              <a:srgbClr val="0077A8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894576" y="3520440"/>
            <a:ext cx="205740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3611880"/>
            <a:ext cx="438912" cy="4389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67728" y="4114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6967728" y="441655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anomaly detection rules &amp; policies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STUDY: THE 2010 FLASH CRASH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57400" cy="914400"/>
          </a:xfrm>
          <a:prstGeom prst="rect">
            <a:avLst/>
          </a:prstGeom>
          <a:solidFill>
            <a:srgbClr val="FFF5F5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229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2984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DJIA points dropped (~9%)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41448" y="777240"/>
            <a:ext cx="2057400" cy="914400"/>
          </a:xfrm>
          <a:prstGeom prst="rect">
            <a:avLst/>
          </a:prstGeom>
          <a:solidFill>
            <a:srgbClr val="FFF5F5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8229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$1T+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41448" y="12984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Temporary market value lost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54296" y="777240"/>
            <a:ext cx="2057400" cy="914400"/>
          </a:xfrm>
          <a:prstGeom prst="rect">
            <a:avLst/>
          </a:prstGeom>
          <a:solidFill>
            <a:srgbClr val="FFF5F5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8229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$4.1B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54296" y="12984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Algorithmic sell order size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67144" y="777240"/>
            <a:ext cx="2057400" cy="914400"/>
          </a:xfrm>
          <a:prstGeom prst="rect">
            <a:avLst/>
          </a:prstGeom>
          <a:solidFill>
            <a:srgbClr val="FFF5F5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7144" y="8229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&lt;30min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67144" y="12984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 of the crash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828800"/>
            <a:ext cx="41148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920240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1938528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Causes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42316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1792" y="240487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of a large $4.1B algorithmic sell order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89864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792" y="2880360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Aggressive HFT feedback loops amplified selling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3374136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1792" y="335584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 liquidity evaporation in milliseconds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3849624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1792" y="383133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Inadequate real-time monitoring &amp; risk controls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572000" y="1828800"/>
            <a:ext cx="43434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4709160" y="192024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Our Project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4617720" y="2304288"/>
            <a:ext cx="2057400" cy="411480"/>
          </a:xfrm>
          <a:prstGeom prst="rect">
            <a:avLst/>
          </a:prstGeom>
          <a:solidFill>
            <a:srgbClr val="E8F4FD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720840" y="2304288"/>
            <a:ext cx="2103120" cy="411480"/>
          </a:xfrm>
          <a:prstGeom prst="rect">
            <a:avLst/>
          </a:prstGeom>
          <a:solidFill>
            <a:srgbClr val="E8F4FD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663440" y="235000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2010 Vulnerability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766560" y="23500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Proposed Solution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617720" y="2779776"/>
            <a:ext cx="2057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720840" y="2779776"/>
            <a:ext cx="2103120" cy="411480"/>
          </a:xfrm>
          <a:prstGeom prst="rect">
            <a:avLst/>
          </a:prstGeom>
          <a:solidFill>
            <a:srgbClr val="F0FFF4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663440" y="2825496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real-time anomaly detection → HFT algos had no visibility into the cascade forming in milliseconds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6766560" y="282549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+ ELK Stack: detects latency spikes and volume anomalies in &lt;1ms — flags cascade before it spreads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4617720" y="3255264"/>
            <a:ext cx="2057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720840" y="3255264"/>
            <a:ext cx="2103120" cy="411480"/>
          </a:xfrm>
          <a:prstGeom prst="rect">
            <a:avLst/>
          </a:prstGeom>
          <a:solidFill>
            <a:srgbClr val="F0FFF4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663440" y="3300984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Delayed identification → circuit breakers triggered too late; 20 min of damage before human intervention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6766560" y="330098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latency spike detection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4617720" y="3730752"/>
            <a:ext cx="2057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720840" y="3730752"/>
            <a:ext cx="2103120" cy="411480"/>
          </a:xfrm>
          <a:prstGeom prst="rect">
            <a:avLst/>
          </a:prstGeom>
          <a:solidFill>
            <a:srgbClr val="F0FFF4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663440" y="377647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automated intervention → algos kept selling even as prices collapsed; feedback loop was self-reinforcing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6766560" y="377647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Kill Switch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4617720" y="4206240"/>
            <a:ext cx="2057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720840" y="4206240"/>
            <a:ext cx="2103120" cy="411480"/>
          </a:xfrm>
          <a:prstGeom prst="rect">
            <a:avLst/>
          </a:prstGeom>
          <a:solidFill>
            <a:srgbClr val="F0FFF4"/>
          </a:solidFill>
          <a:ln w="3810">
            <a:solidFill>
              <a:srgbClr val="0077A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663440" y="42519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vs security trade-off → firms chose raw speed; no security layer meant no way to stop runaway execution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6766560" y="42519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low-latency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libri" panose="020F0502020204030204" pitchFamily="34" charset="0"/>
              </a:rPr>
              <a:t>TECHNOLOGY JUSTIFICATION &amp; DESIGN DECISIONS</a:t>
            </a:r>
            <a:endParaRPr lang="en-US" sz="1700" b="1" kern="0" spc="200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4" name="ColHead1"/>
          <p:cNvSpPr/>
          <p:nvPr/>
        </p:nvSpPr>
        <p:spPr>
          <a:xfrm>
            <a:off x="228600" y="731520"/>
            <a:ext cx="4252800" cy="320040"/>
          </a:xfrm>
          <a:prstGeom prst="rect">
            <a:avLst/>
          </a:prstGeom>
          <a:solidFill>
            <a:srgbClr val="0077A8"/>
          </a:solidFill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KAFKA vs ALTERNATIVES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olBox1"/>
          <p:cNvSpPr/>
          <p:nvPr/>
        </p:nvSpPr>
        <p:spPr>
          <a:xfrm>
            <a:off x="228600" y="1051560"/>
            <a:ext cx="4252595" cy="1407160"/>
          </a:xfrm>
          <a:prstGeom prst="rect">
            <a:avLst/>
          </a:prstGeom>
          <a:solidFill>
            <a:srgbClr val="F0F8FF"/>
          </a:solidFill>
          <a:ln w="9525">
            <a:solidFill>
              <a:srgbClr val="0077A8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anose="020F0502020204030204" pitchFamily="34" charset="0"/>
              </a:rPr>
              <a:t>Why Kafka over RabbitMQ / Pulsar?</a:t>
            </a:r>
            <a:endParaRPr lang="en-US" sz="95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Kafka handles millions of msgs/sec — RabbitMQ tops out ~50k msgs/sec (unsuitable for HFT volumes)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Kafka log replay (offsets) enables forensic audit — critical for Reg SCI compliance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Pulsar offers similar throughput but lacks the mature ELK integration ecosystem Kafka provides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Kafka replication factor 3 ensures zero data loss — no equivalent in RabbitMQ default config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olHead2"/>
          <p:cNvSpPr/>
          <p:nvPr/>
        </p:nvSpPr>
        <p:spPr>
          <a:xfrm>
            <a:off x="4662600" y="731520"/>
            <a:ext cx="4252800" cy="320040"/>
          </a:xfrm>
          <a:prstGeom prst="rect">
            <a:avLst/>
          </a:prstGeom>
          <a:solidFill>
            <a:srgbClr val="006080"/>
          </a:solidFill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ELK vs SPLUNK / GRAFANA / DATADOG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olBox2"/>
          <p:cNvSpPr/>
          <p:nvPr/>
        </p:nvSpPr>
        <p:spPr>
          <a:xfrm>
            <a:off x="4662805" y="1051560"/>
            <a:ext cx="4252595" cy="1416685"/>
          </a:xfrm>
          <a:prstGeom prst="rect">
            <a:avLst/>
          </a:prstGeom>
          <a:solidFill>
            <a:srgbClr val="F0FAFA"/>
          </a:solidFill>
          <a:ln w="9525">
            <a:solidFill>
              <a:srgbClr val="006080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anose="020F0502020204030204" pitchFamily="34" charset="0"/>
              </a:rPr>
              <a:t>Why ELK over commercial alternatives?</a:t>
            </a:r>
            <a:endParaRPr lang="en-US" sz="95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ELK is open-source — no per-GB ingestion cost; Splunk at HFT log volumes = prohibitive licensing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Native Kafka-Logstash connector — tight pipeline integration without custom middleware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Grafana is metrics-only; ELK handles full log forensics required for post-incident root-cause analysis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Datadog requires cloud egress — on-premises ELK keeps sensitive trading data within the security perimeter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olHead3"/>
          <p:cNvSpPr/>
          <p:nvPr/>
        </p:nvSpPr>
        <p:spPr>
          <a:xfrm>
            <a:off x="228600" y="2697480"/>
            <a:ext cx="4252800" cy="320040"/>
          </a:xfrm>
          <a:prstGeom prst="rect">
            <a:avLst/>
          </a:prstGeom>
          <a:solidFill>
            <a:srgbClr val="1A5276"/>
          </a:solidFill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WHY MUTUAL TLS (mTLS)?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olBox3"/>
          <p:cNvSpPr/>
          <p:nvPr/>
        </p:nvSpPr>
        <p:spPr>
          <a:xfrm>
            <a:off x="228600" y="3017520"/>
            <a:ext cx="4252595" cy="1097280"/>
          </a:xfrm>
          <a:prstGeom prst="rect">
            <a:avLst/>
          </a:prstGeom>
          <a:solidFill>
            <a:srgbClr val="EBF5FB"/>
          </a:solidFill>
          <a:ln w="9525">
            <a:solidFill>
              <a:srgbClr val="1A5276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Standard TLS only authenticates the server. In HFT, a rogue client injecting false data is equally dangerous — mTLS forces BOTH sides to present valid certificates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Prevents Man-in-the-Middle attacks between Kafka brokers — a compromised broker cannot impersonate a legitimate node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AWS KMS auto-rotates certificates every 90 days — eliminates manual cert management risk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olHead4"/>
          <p:cNvSpPr/>
          <p:nvPr/>
        </p:nvSpPr>
        <p:spPr>
          <a:xfrm>
            <a:off x="4705780" y="2697480"/>
            <a:ext cx="4252800" cy="320040"/>
          </a:xfrm>
          <a:prstGeom prst="rect">
            <a:avLst/>
          </a:prstGeom>
          <a:solidFill>
            <a:srgbClr val="1E5631"/>
          </a:solidFill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DATA RETENTION &amp; DISPOSAL PROCEDURE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olBox4"/>
          <p:cNvSpPr/>
          <p:nvPr/>
        </p:nvSpPr>
        <p:spPr>
          <a:xfrm>
            <a:off x="4705780" y="3017520"/>
            <a:ext cx="4252800" cy="1097280"/>
          </a:xfrm>
          <a:prstGeom prst="rect">
            <a:avLst/>
          </a:prstGeom>
          <a:solidFill>
            <a:srgbClr val="EAFAF1"/>
          </a:solidFill>
          <a:ln w="9525">
            <a:solidFill>
              <a:srgbClr val="1E563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Retention: 7 years per Reg SCI (CloudWatch + S3 immutable storage)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Disposal: After 7-year period, CISO and Compliance Officer issue formal disposal approval. Data purged via AWS S3 Object Lock expiry + cryptographic erasure (AES-256 key deletion)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</a:rPr>
              <a:t>Governance chain: Annual policy review by CISO → Board Audit Committee sign-off required before any disposal</a:t>
            </a:r>
            <a:endParaRPr lang="en-US" sz="900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A2E4A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SCALABILITY, GOVERNANCE &amp; ARCHITECTURE DEPTH</a:t>
            </a:r>
            <a:endParaRPr lang="en-US" sz="1700" b="1" kern="0" spc="200" dirty="0">
              <a:solidFill>
                <a:srgbClr val="1A2E4A"/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4" name="Head1"/>
          <p:cNvSpPr/>
          <p:nvPr/>
        </p:nvSpPr>
        <p:spPr>
          <a:xfrm>
            <a:off x="242570" y="784860"/>
            <a:ext cx="8686800" cy="320040"/>
          </a:xfrm>
          <a:prstGeom prst="rect">
            <a:avLst/>
          </a:prstGeom>
          <a:solidFill>
            <a:srgbClr val="1F618D"/>
          </a:solidFill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charset="0"/>
                <a:cs typeface="Arial Black" panose="020B0A04020102020204" charset="0"/>
              </a:rPr>
              <a:t>SCALABILITY ANALYSIS</a:t>
            </a:r>
            <a:endParaRPr lang="en-US" sz="1400" b="1" dirty="0">
              <a:solidFill>
                <a:srgbClr val="FFFFFF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Stat1"/>
          <p:cNvSpPr/>
          <p:nvPr/>
        </p:nvSpPr>
        <p:spPr>
          <a:xfrm>
            <a:off x="242570" y="1203960"/>
            <a:ext cx="2743200" cy="731520"/>
          </a:xfrm>
          <a:prstGeom prst="rect">
            <a:avLst/>
          </a:prstGeom>
          <a:solidFill>
            <a:srgbClr val="EBF5FB"/>
          </a:solidFill>
          <a:ln w="9525">
            <a:solidFill>
              <a:srgbClr val="1F618D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618D"/>
                </a:solidFill>
                <a:latin typeface="Calibri" panose="020F0502020204030204" pitchFamily="34" charset="0"/>
              </a:rPr>
              <a:t>1M+ msg/sec</a:t>
            </a:r>
            <a:endParaRPr lang="en-US" sz="2400" b="1" dirty="0">
              <a:solidFill>
                <a:srgbClr val="1F618D"/>
              </a:solidFill>
              <a:latin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</a:rPr>
              <a:t>Kafka throughput capacity per cluster</a:t>
            </a: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Stat2"/>
          <p:cNvSpPr/>
          <p:nvPr/>
        </p:nvSpPr>
        <p:spPr>
          <a:xfrm>
            <a:off x="3207385" y="1203960"/>
            <a:ext cx="2743200" cy="731520"/>
          </a:xfrm>
          <a:prstGeom prst="rect">
            <a:avLst/>
          </a:prstGeom>
          <a:solidFill>
            <a:srgbClr val="EBF5FB"/>
          </a:solidFill>
          <a:ln w="9525">
            <a:solidFill>
              <a:srgbClr val="1F618D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618D"/>
                </a:solidFill>
                <a:latin typeface="Calibri" panose="020F0502020204030204" pitchFamily="34" charset="0"/>
              </a:rPr>
              <a:t>Horizontal</a:t>
            </a:r>
            <a:endParaRPr lang="en-US" sz="2400" b="1" dirty="0">
              <a:solidFill>
                <a:srgbClr val="1F618D"/>
              </a:solidFill>
              <a:latin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  <a:latin typeface="Calibri" panose="020F0502020204030204" pitchFamily="34" charset="0"/>
              </a:rPr>
              <a:t>Scaling: add brokers under load — no downtime. Kafka partitions auto-rebalance across new nodes</a:t>
            </a:r>
            <a:endParaRPr lang="en-US" sz="90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Stat3"/>
          <p:cNvSpPr/>
          <p:nvPr/>
        </p:nvSpPr>
        <p:spPr>
          <a:xfrm>
            <a:off x="6172200" y="1203325"/>
            <a:ext cx="2743200" cy="731520"/>
          </a:xfrm>
          <a:prstGeom prst="rect">
            <a:avLst/>
          </a:prstGeom>
          <a:solidFill>
            <a:srgbClr val="EBF5FB"/>
          </a:solidFill>
          <a:ln w="9525">
            <a:solidFill>
              <a:srgbClr val="1F618D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618D"/>
                </a:solidFill>
                <a:latin typeface="Calibri" panose="020F0502020204030204" pitchFamily="34" charset="0"/>
              </a:rPr>
              <a:t>Traffic Spikes</a:t>
            </a:r>
            <a:endParaRPr lang="en-US" sz="2400" b="1" dirty="0">
              <a:solidFill>
                <a:srgbClr val="1F618D"/>
              </a:solidFill>
              <a:latin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  <a:latin typeface="Calibri" panose="020F0502020204030204" pitchFamily="34" charset="0"/>
              </a:rPr>
              <a:t>Consumer group lag monitored; Kibana alerts if queue depth exceeds 10k msgs — triggers auto-scaling</a:t>
            </a:r>
            <a:endParaRPr lang="en-US" sz="90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8" name="Head2"/>
          <p:cNvSpPr/>
          <p:nvPr/>
        </p:nvSpPr>
        <p:spPr>
          <a:xfrm>
            <a:off x="243205" y="2261870"/>
            <a:ext cx="4069080" cy="320040"/>
          </a:xfrm>
          <a:prstGeom prst="rect">
            <a:avLst/>
          </a:prstGeom>
          <a:solidFill>
            <a:srgbClr val="7D3C98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charset="0"/>
                <a:cs typeface="Arial Black" panose="020B0A04020102020204" charset="0"/>
              </a:rPr>
              <a:t>GOVERNANCE &amp; POLICY APPROVAL (RACI)</a:t>
            </a:r>
            <a:endParaRPr lang="en-US" sz="1100" b="1" dirty="0">
              <a:solidFill>
                <a:srgbClr val="FFFFFF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9" name="RACI"/>
          <p:cNvSpPr/>
          <p:nvPr/>
        </p:nvSpPr>
        <p:spPr>
          <a:xfrm>
            <a:off x="243205" y="2571750"/>
            <a:ext cx="4069080" cy="1949450"/>
          </a:xfrm>
          <a:prstGeom prst="rect">
            <a:avLst/>
          </a:prstGeom>
          <a:solidFill>
            <a:srgbClr val="F5EEF8"/>
          </a:solidFill>
          <a:ln w="9525">
            <a:solidFill>
              <a:srgbClr val="7D3C98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D3C98"/>
                </a:solidFill>
                <a:latin typeface="Calibri" panose="020F0502020204030204" pitchFamily="34" charset="0"/>
              </a:rPr>
              <a:t>Role                      R  A  C  I</a:t>
            </a:r>
            <a:endParaRPr lang="en-US" sz="1050" b="1" dirty="0">
              <a:solidFill>
                <a:srgbClr val="7D3C98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</a:rPr>
              <a:t>CISO (Policy Owner)        R  A  -   I</a:t>
            </a:r>
            <a:endParaRPr lang="en-US" sz="105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</a:rPr>
              <a:t>Head of Trading            -   A  C  I</a:t>
            </a:r>
            <a:endParaRPr lang="en-US" sz="105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</a:rPr>
              <a:t>SecOps / Dev Team         R  -   C  -</a:t>
            </a:r>
            <a:endParaRPr lang="en-US" sz="105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</a:rPr>
              <a:t>Compliance Officer          -   A  -   I</a:t>
            </a:r>
            <a:endParaRPr lang="en-US" sz="105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</a:rPr>
              <a:t>Board Audit Committee       -   A  -   I</a:t>
            </a:r>
            <a:endParaRPr lang="en-US" sz="105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050" b="1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7D3C98"/>
                </a:solidFill>
                <a:latin typeface="Calibri" panose="020F0502020204030204" pitchFamily="34" charset="0"/>
              </a:rPr>
              <a:t>Annual policy review cycle; quarterly penetration testing sign-off required by CISO</a:t>
            </a:r>
            <a:endParaRPr lang="en-US" sz="1000" b="1" i="1" dirty="0">
              <a:solidFill>
                <a:srgbClr val="7D3C98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Head3"/>
          <p:cNvSpPr/>
          <p:nvPr/>
        </p:nvSpPr>
        <p:spPr>
          <a:xfrm>
            <a:off x="4571880" y="2245995"/>
            <a:ext cx="4343520" cy="320040"/>
          </a:xfrm>
          <a:prstGeom prst="rect">
            <a:avLst/>
          </a:prstGeom>
          <a:solidFill>
            <a:srgbClr val="C0392B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charset="0"/>
                <a:cs typeface="Arial Black" panose="020B0A04020102020204" charset="0"/>
              </a:rPr>
              <a:t>FPGA &amp; KERNEL BYPASS — SIMPLIFIED</a:t>
            </a:r>
            <a:endParaRPr lang="en-US" sz="1100" b="1" dirty="0">
              <a:solidFill>
                <a:srgbClr val="FFFFFF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1" name="FPGA"/>
          <p:cNvSpPr/>
          <p:nvPr/>
        </p:nvSpPr>
        <p:spPr>
          <a:xfrm>
            <a:off x="4572000" y="2571750"/>
            <a:ext cx="4343400" cy="1948815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anose="020F0502020204030204" pitchFamily="34" charset="0"/>
              </a:rPr>
              <a:t>What it is (plain language):</a:t>
            </a:r>
            <a:endParaRPr lang="en-US" sz="1050" b="1" dirty="0">
              <a:solidFill>
                <a:srgbClr val="C0392B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</a:rPr>
              <a:t>FPGA = a reprogrammable chip that executes trade logic in hardware (nanoseconds) rather than software (microseconds). Acts as the security gateway: validates every order before it reaches the exchange.</a:t>
            </a: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</a:rPr>
              <a:t>Kernel bypass (DPDK/RDMA) = data travels directly from network card to application, skipping the OS. This removes OS latency (~10–50µs saved) and reduces the software attack surface.</a:t>
            </a: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</a:rPr>
              <a:t>Security role at Level 3: the FPGA enforces rate limits and anomaly thresholds at wire speed — no software vulnerability can bypass it, as the logic is burned into silicon</a:t>
            </a: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</p:spPr>
        <p:txBody>
          <a:bodyPr wrap="square" lIns="228600" tIns="91440" rIns="228600" bIns="9144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anose="020F0502020204030204" pitchFamily="34" charset="0"/>
              </a:rPr>
              <a:t>NETWORK ARCHITECTURE — IP SUBNETS, FIREWALLS, DMZ &amp; TRUST BOUNDARIES</a:t>
            </a:r>
            <a:endParaRPr lang="en-US" sz="1600" b="1" kern="0" spc="100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Z1box"/>
          <p:cNvSpPr/>
          <p:nvPr/>
        </p:nvSpPr>
        <p:spPr>
          <a:xfrm>
            <a:off x="182880" y="685800"/>
            <a:ext cx="1600200" cy="1371600"/>
          </a:xfrm>
          <a:prstGeom prst="rect">
            <a:avLst/>
          </a:prstGeom>
          <a:solidFill>
            <a:srgbClr val="FEF9E7"/>
          </a:solidFill>
          <a:ln w="19050">
            <a:solidFill>
              <a:srgbClr val="E67E22"/>
            </a:solidFill>
          </a:ln>
        </p:spPr>
      </p:sp>
      <p:sp>
        <p:nvSpPr>
          <p:cNvPr id="4" name="Z1hdr"/>
          <p:cNvSpPr/>
          <p:nvPr/>
        </p:nvSpPr>
        <p:spPr>
          <a:xfrm>
            <a:off x="182880" y="685800"/>
            <a:ext cx="1600200" cy="228600"/>
          </a:xfrm>
          <a:prstGeom prst="rect">
            <a:avLst/>
          </a:prstGeom>
          <a:solidFill>
            <a:srgbClr val="E67E22"/>
          </a:solidFill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</a:rPr>
              <a:t>ZONE 1 — UNTRUSTED</a:t>
            </a:r>
            <a:endParaRPr lang="en-US" sz="10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1content"/>
          <p:cNvSpPr/>
          <p:nvPr/>
        </p:nvSpPr>
        <p:spPr>
          <a:xfrm>
            <a:off x="182880" y="914400"/>
            <a:ext cx="1600200" cy="1143000"/>
          </a:xfrm>
          <a:prstGeom prst="rect">
            <a:avLst/>
          </a:prstGeom>
          <a:noFill/>
        </p:spPr>
        <p:txBody>
          <a:bodyPr wrap="square" lIns="91440" tIns="91440" rIns="91440" bIns="91440" rtlCol="0" anchor="t"/>
          <a:lstStyle/>
          <a:p>
            <a:pPr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</a:rPr>
              <a:t>Market Exchange</a:t>
            </a: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</a:rPr>
              <a:t>Internet / Public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</a:rPr>
              <a:t>FIX/FAST protocol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</a:rPr>
              <a:t>TLS 1.3 enforced</a:t>
            </a:r>
            <a:endParaRPr lang="en-US" sz="850" b="1" dirty="0">
              <a:solidFill>
                <a:srgbClr val="E67E22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C0392B"/>
                </a:solidFill>
                <a:latin typeface="Calibri" panose="020F0502020204030204" pitchFamily="34" charset="0"/>
              </a:rPr>
              <a:t>No trust — all traffic</a:t>
            </a:r>
            <a:endParaRPr lang="en-US" sz="800" dirty="0">
              <a:solidFill>
                <a:srgbClr val="C0392B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C0392B"/>
                </a:solidFill>
                <a:latin typeface="Calibri" panose="020F0502020204030204" pitchFamily="34" charset="0"/>
              </a:rPr>
              <a:t>validated at FW#1</a:t>
            </a:r>
            <a:endParaRPr lang="en-US" sz="800" dirty="0">
              <a:solidFill>
                <a:srgbClr val="C0392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Arr1"/>
          <p:cNvSpPr/>
          <p:nvPr/>
        </p:nvSpPr>
        <p:spPr>
          <a:xfrm>
            <a:off x="1828800" y="1280160"/>
            <a:ext cx="320040" cy="137160"/>
          </a:xfrm>
          <a:prstGeom prst="rightArrow">
            <a:avLst/>
          </a:prstGeom>
          <a:solidFill>
            <a:srgbClr val="E67E22"/>
          </a:solidFill>
          <a:ln w="0">
            <a:noFill/>
          </a:ln>
        </p:spPr>
      </p:sp>
      <p:sp>
        <p:nvSpPr>
          <p:cNvPr id="7" name="Lbl1"/>
          <p:cNvSpPr/>
          <p:nvPr/>
        </p:nvSpPr>
        <p:spPr>
          <a:xfrm>
            <a:off x="1828800" y="141732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E67E22"/>
                </a:solidFill>
                <a:latin typeface="Arial Black" panose="020B0A04020102020204" charset="0"/>
                <a:cs typeface="Arial Black" panose="020B0A04020102020204" charset="0"/>
              </a:rPr>
              <a:t>TLS 1.3</a:t>
            </a:r>
            <a:endParaRPr lang="en-US" sz="700" b="1" dirty="0">
              <a:solidFill>
                <a:srgbClr val="E67E22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Z2box"/>
          <p:cNvSpPr/>
          <p:nvPr/>
        </p:nvSpPr>
        <p:spPr>
          <a:xfrm>
            <a:off x="2194560" y="685800"/>
            <a:ext cx="1600200" cy="1371600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</p:sp>
      <p:sp>
        <p:nvSpPr>
          <p:cNvPr id="9" name="Z2hdr"/>
          <p:cNvSpPr/>
          <p:nvPr/>
        </p:nvSpPr>
        <p:spPr>
          <a:xfrm>
            <a:off x="2194560" y="685800"/>
            <a:ext cx="1600200" cy="228600"/>
          </a:xfrm>
          <a:prstGeom prst="rect">
            <a:avLst/>
          </a:prstGeom>
          <a:solidFill>
            <a:srgbClr val="C0392B"/>
          </a:solidFill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</a:rPr>
              <a:t>ZONE 2 — DMZ</a:t>
            </a:r>
            <a:endParaRPr lang="en-US" sz="9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Z2content"/>
          <p:cNvSpPr/>
          <p:nvPr/>
        </p:nvSpPr>
        <p:spPr>
          <a:xfrm>
            <a:off x="2194560" y="914400"/>
            <a:ext cx="1600200" cy="1143000"/>
          </a:xfrm>
          <a:prstGeom prst="rect">
            <a:avLst/>
          </a:prstGeom>
          <a:noFill/>
        </p:spPr>
        <p:txBody>
          <a:bodyPr wrap="square" lIns="91440" tIns="91440" rIns="91440" bIns="91440" rtlCol="0" anchor="t"/>
          <a:lstStyle/>
          <a:p>
            <a:pPr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</a:rPr>
              <a:t>Firewall #1</a:t>
            </a:r>
            <a:endParaRPr lang="en-US" sz="10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</a:rPr>
              <a:t>10.0.0.0/24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</a:rPr>
              <a:t>Allow: 9094/TLS only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</a:rPr>
              <a:t>Deny all else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</a:rPr>
              <a:t>IDS/IPS inline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7D3C98"/>
                </a:solidFill>
                <a:latin typeface="Calibri" panose="020F0502020204030204" pitchFamily="34" charset="0"/>
              </a:rPr>
              <a:t>DDoS mitigation</a:t>
            </a:r>
            <a:endParaRPr lang="en-US" sz="800" dirty="0">
              <a:solidFill>
                <a:srgbClr val="7D3C9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Arr2"/>
          <p:cNvSpPr/>
          <p:nvPr/>
        </p:nvSpPr>
        <p:spPr>
          <a:xfrm>
            <a:off x="3840480" y="1280160"/>
            <a:ext cx="320040" cy="137160"/>
          </a:xfrm>
          <a:prstGeom prst="rightArrow">
            <a:avLst/>
          </a:prstGeom>
          <a:solidFill>
            <a:srgbClr val="C0392B"/>
          </a:solidFill>
          <a:ln w="0">
            <a:noFill/>
          </a:ln>
        </p:spPr>
      </p:sp>
      <p:sp>
        <p:nvSpPr>
          <p:cNvPr id="12" name="Lbl2"/>
          <p:cNvSpPr/>
          <p:nvPr/>
        </p:nvSpPr>
        <p:spPr>
          <a:xfrm>
            <a:off x="3840480" y="141732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C0392B"/>
                </a:solidFill>
                <a:latin typeface="Arial Black" panose="020B0A04020102020204" charset="0"/>
                <a:cs typeface="Arial Black" panose="020B0A04020102020204" charset="0"/>
              </a:rPr>
              <a:t>mTLS</a:t>
            </a:r>
            <a:endParaRPr lang="en-US" sz="700" b="1" dirty="0">
              <a:solidFill>
                <a:srgbClr val="C0392B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3" name="Z3box"/>
          <p:cNvSpPr/>
          <p:nvPr/>
        </p:nvSpPr>
        <p:spPr>
          <a:xfrm>
            <a:off x="4206240" y="594360"/>
            <a:ext cx="1828800" cy="2301875"/>
          </a:xfrm>
          <a:prstGeom prst="rect">
            <a:avLst/>
          </a:prstGeom>
          <a:solidFill>
            <a:srgbClr val="EBF5FB"/>
          </a:solidFill>
          <a:ln w="22225">
            <a:solidFill>
              <a:srgbClr val="1F618D"/>
            </a:solidFill>
          </a:ln>
        </p:spPr>
      </p:sp>
      <p:sp>
        <p:nvSpPr>
          <p:cNvPr id="14" name="Z3hdr"/>
          <p:cNvSpPr/>
          <p:nvPr/>
        </p:nvSpPr>
        <p:spPr>
          <a:xfrm>
            <a:off x="4206240" y="594360"/>
            <a:ext cx="1828800" cy="228600"/>
          </a:xfrm>
          <a:prstGeom prst="rect">
            <a:avLst/>
          </a:prstGeom>
          <a:solidFill>
            <a:srgbClr val="1F618D"/>
          </a:solidFill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</a:rPr>
              <a:t>ZONE 3 — ON-PREMISES (10.0.0.0/16)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Kafka"/>
          <p:cNvSpPr/>
          <p:nvPr/>
        </p:nvSpPr>
        <p:spPr>
          <a:xfrm>
            <a:off x="4298315" y="868680"/>
            <a:ext cx="1645920" cy="411480"/>
          </a:xfrm>
          <a:prstGeom prst="rect">
            <a:avLst/>
          </a:prstGeom>
          <a:solidFill>
            <a:srgbClr val="D6EAF8"/>
          </a:solidFill>
          <a:ln w="9525">
            <a:solidFill>
              <a:srgbClr val="1F618D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1A2E4A"/>
                </a:solidFill>
                <a:latin typeface="Calibri" panose="020F0502020204030204" pitchFamily="34" charset="0"/>
              </a:rPr>
              <a:t>Kafka Cluster</a:t>
            </a:r>
            <a:endParaRPr lang="en-US" sz="9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</a:rPr>
              <a:t>10.0.1.0/24 | VLAN 10</a:t>
            </a:r>
            <a:endParaRPr lang="en-US" sz="8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</a:rPr>
              <a:t>Brokers: .10-.12:9094 SASL_SSL</a:t>
            </a:r>
            <a:endParaRPr lang="en-US" sz="800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FPGA"/>
          <p:cNvSpPr/>
          <p:nvPr/>
        </p:nvSpPr>
        <p:spPr>
          <a:xfrm>
            <a:off x="4298315" y="1369695"/>
            <a:ext cx="1645920" cy="471170"/>
          </a:xfrm>
          <a:prstGeom prst="rect">
            <a:avLst/>
          </a:prstGeom>
          <a:solidFill>
            <a:srgbClr val="D6EAF8"/>
          </a:solidFill>
          <a:ln w="9525">
            <a:solidFill>
              <a:srgbClr val="1F618D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1A2E4A"/>
                </a:solidFill>
                <a:latin typeface="Calibri" panose="020F0502020204030204" pitchFamily="34" charset="0"/>
              </a:rPr>
              <a:t>FPGA Engine</a:t>
            </a:r>
            <a:endParaRPr lang="en-US" sz="9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</a:rPr>
              <a:t>10.0.2.0/24 | VLAN 20</a:t>
            </a:r>
            <a:endParaRPr lang="en-US" sz="8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C0392B"/>
                </a:solidFill>
                <a:latin typeface="Calibri" panose="020F0502020204030204" pitchFamily="34" charset="0"/>
              </a:rPr>
              <a:t>Isolated — no internet route</a:t>
            </a:r>
            <a:endParaRPr lang="en-US" sz="800" dirty="0">
              <a:solidFill>
                <a:srgbClr val="C0392B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NVMe"/>
          <p:cNvSpPr/>
          <p:nvPr/>
        </p:nvSpPr>
        <p:spPr>
          <a:xfrm>
            <a:off x="4298520" y="1942465"/>
            <a:ext cx="1645920" cy="365760"/>
          </a:xfrm>
          <a:prstGeom prst="rect">
            <a:avLst/>
          </a:prstGeom>
          <a:solidFill>
            <a:srgbClr val="D6EAF8"/>
          </a:solidFill>
          <a:ln w="9525">
            <a:solidFill>
              <a:srgbClr val="1F618D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1A2E4A"/>
                </a:solidFill>
                <a:latin typeface="Calibri" panose="020F0502020204030204" pitchFamily="34" charset="0"/>
              </a:rPr>
              <a:t>NVMe Storage</a:t>
            </a:r>
            <a:endParaRPr lang="en-US" sz="9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</a:rPr>
              <a:t>10.0.3.0/24 | AES-256 at rest</a:t>
            </a:r>
            <a:endParaRPr lang="en-US" sz="8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</a:rPr>
              <a:t>Kafka logs + audit trail</a:t>
            </a:r>
            <a:endParaRPr lang="en-US" sz="800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FW2"/>
          <p:cNvSpPr/>
          <p:nvPr/>
        </p:nvSpPr>
        <p:spPr>
          <a:xfrm>
            <a:off x="4206875" y="2409825"/>
            <a:ext cx="1828800" cy="228600"/>
          </a:xfrm>
          <a:prstGeom prst="rect">
            <a:avLst/>
          </a:prstGeom>
          <a:solidFill>
            <a:srgbClr val="C0392B"/>
          </a:solidFill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</a:rPr>
              <a:t>Firewall #2 — allow IPsec/VPN only outbound</a:t>
            </a:r>
            <a:endParaRPr lang="en-US" sz="8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Arr3"/>
          <p:cNvSpPr/>
          <p:nvPr/>
        </p:nvSpPr>
        <p:spPr>
          <a:xfrm>
            <a:off x="6081480" y="1280160"/>
            <a:ext cx="411480" cy="137160"/>
          </a:xfrm>
          <a:prstGeom prst="rightArrow">
            <a:avLst/>
          </a:prstGeom>
          <a:solidFill>
            <a:srgbClr val="7D3C98"/>
          </a:solidFill>
          <a:ln w="0">
            <a:noFill/>
          </a:ln>
        </p:spPr>
      </p:sp>
      <p:sp>
        <p:nvSpPr>
          <p:cNvPr id="20" name="Lbl3"/>
          <p:cNvSpPr/>
          <p:nvPr/>
        </p:nvSpPr>
        <p:spPr>
          <a:xfrm>
            <a:off x="6036310" y="1403985"/>
            <a:ext cx="502920" cy="653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7D3C98"/>
                </a:solidFill>
                <a:latin typeface="Arial Black" panose="020B0A04020102020204" charset="0"/>
                <a:cs typeface="Arial Black" panose="020B0A04020102020204" charset="0"/>
              </a:rPr>
              <a:t>IPsec VPN</a:t>
            </a:r>
            <a:endParaRPr lang="en-US" sz="750" b="1" dirty="0">
              <a:solidFill>
                <a:srgbClr val="7D3C98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buNone/>
            </a:pPr>
            <a:r>
              <a:rPr lang="en-US" sz="700" b="1" dirty="0">
                <a:solidFill>
                  <a:srgbClr val="7D3C98"/>
                </a:solidFill>
                <a:latin typeface="Arial Black" panose="020B0A04020102020204" charset="0"/>
                <a:cs typeface="Arial Black" panose="020B0A04020102020204" charset="0"/>
              </a:rPr>
              <a:t>AES-256</a:t>
            </a:r>
            <a:endParaRPr lang="en-US" sz="700" b="1" dirty="0">
              <a:solidFill>
                <a:srgbClr val="7D3C98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buNone/>
            </a:pPr>
            <a:r>
              <a:rPr lang="en-US" sz="700" b="1" dirty="0">
                <a:solidFill>
                  <a:srgbClr val="7D3C98"/>
                </a:solidFill>
                <a:latin typeface="Arial Black" panose="020B0A04020102020204" charset="0"/>
                <a:cs typeface="Arial Black" panose="020B0A04020102020204" charset="0"/>
              </a:rPr>
              <a:t>TRUST BOUNDARY</a:t>
            </a:r>
            <a:endParaRPr lang="en-US" sz="700" b="1" dirty="0">
              <a:solidFill>
                <a:srgbClr val="7D3C98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1" name="Z4box"/>
          <p:cNvSpPr/>
          <p:nvPr/>
        </p:nvSpPr>
        <p:spPr>
          <a:xfrm>
            <a:off x="6538595" y="594360"/>
            <a:ext cx="2377440" cy="2303780"/>
          </a:xfrm>
          <a:prstGeom prst="rect">
            <a:avLst/>
          </a:prstGeom>
          <a:solidFill>
            <a:srgbClr val="E9F7EF"/>
          </a:solidFill>
          <a:ln w="22225">
            <a:solidFill>
              <a:srgbClr val="1E8449"/>
            </a:solidFill>
          </a:ln>
        </p:spPr>
      </p:sp>
      <p:sp>
        <p:nvSpPr>
          <p:cNvPr id="22" name="Z4hdr"/>
          <p:cNvSpPr/>
          <p:nvPr/>
        </p:nvSpPr>
        <p:spPr>
          <a:xfrm>
            <a:off x="6538680" y="594360"/>
            <a:ext cx="2377440" cy="228600"/>
          </a:xfrm>
          <a:prstGeom prst="rect">
            <a:avLst/>
          </a:prstGeom>
          <a:solidFill>
            <a:srgbClr val="1E8449"/>
          </a:solidFill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</a:rPr>
              <a:t>ZONE 4 — CLOUD VPC (172.16.0.0/16)</a:t>
            </a:r>
            <a:endParaRPr lang="en-US" sz="95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LS"/>
          <p:cNvSpPr/>
          <p:nvPr/>
        </p:nvSpPr>
        <p:spPr>
          <a:xfrm>
            <a:off x="6630035" y="894715"/>
            <a:ext cx="2194560" cy="401955"/>
          </a:xfrm>
          <a:prstGeom prst="rect">
            <a:avLst/>
          </a:prstGeom>
          <a:solidFill>
            <a:srgbClr val="D5F5E3"/>
          </a:solidFill>
          <a:ln w="9525">
            <a:solidFill>
              <a:srgbClr val="1E8449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1A2E4A"/>
                </a:solidFill>
                <a:latin typeface="Calibri" panose="020F0502020204030204" pitchFamily="34" charset="0"/>
              </a:rPr>
              <a:t>Logstash — 172.16.1.10</a:t>
            </a:r>
            <a:endParaRPr lang="en-US" sz="9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</a:rPr>
              <a:t>Port 5044/TLS | SG: allow from VPN only | IAM: logstash-ingest-role</a:t>
            </a:r>
            <a:endParaRPr lang="en-US" sz="800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ES"/>
          <p:cNvSpPr/>
          <p:nvPr/>
        </p:nvSpPr>
        <p:spPr>
          <a:xfrm>
            <a:off x="6630035" y="1368425"/>
            <a:ext cx="2194560" cy="405130"/>
          </a:xfrm>
          <a:prstGeom prst="rect">
            <a:avLst/>
          </a:prstGeom>
          <a:solidFill>
            <a:srgbClr val="D5F5E3"/>
          </a:solidFill>
          <a:ln w="9525">
            <a:solidFill>
              <a:srgbClr val="1E8449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1A2E4A"/>
                </a:solidFill>
                <a:latin typeface="Calibri" panose="020F0502020204030204" pitchFamily="34" charset="0"/>
              </a:rPr>
              <a:t>Elasticsearch — 172.16.2.10-12</a:t>
            </a:r>
            <a:endParaRPr lang="en-US" sz="9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</a:rPr>
              <a:t>Port 9200/TLS | SG: Logstash+Kibana only | IAM: es-read-write / es-read-only</a:t>
            </a:r>
            <a:endParaRPr lang="en-US" sz="800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Kibana"/>
          <p:cNvSpPr/>
          <p:nvPr/>
        </p:nvSpPr>
        <p:spPr>
          <a:xfrm>
            <a:off x="6630670" y="1871345"/>
            <a:ext cx="2194560" cy="416560"/>
          </a:xfrm>
          <a:prstGeom prst="rect">
            <a:avLst/>
          </a:prstGeom>
          <a:solidFill>
            <a:srgbClr val="D5F5E3"/>
          </a:solidFill>
          <a:ln w="9525">
            <a:solidFill>
              <a:srgbClr val="1E8449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1A2E4A"/>
                </a:solidFill>
                <a:latin typeface="Calibri" panose="020F0502020204030204" pitchFamily="34" charset="0"/>
              </a:rPr>
              <a:t>Kibana — 172.16.3.10</a:t>
            </a:r>
            <a:endParaRPr lang="en-US" sz="90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</a:rPr>
              <a:t>Port 5601/HTTPS | SG: admin IPs only (MFA) | IAM: kibana-viewer (RBAC)</a:t>
            </a:r>
            <a:endParaRPr lang="en-US" sz="800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KMS"/>
          <p:cNvSpPr/>
          <p:nvPr/>
        </p:nvSpPr>
        <p:spPr>
          <a:xfrm>
            <a:off x="6630960" y="2385695"/>
            <a:ext cx="2194560" cy="228600"/>
          </a:xfrm>
          <a:prstGeom prst="rect">
            <a:avLst/>
          </a:prstGeom>
          <a:solidFill>
            <a:srgbClr val="FEF9C3"/>
          </a:solidFill>
          <a:ln w="9525">
            <a:solidFill>
              <a:srgbClr val="B7950B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7D6608"/>
                </a:solidFill>
                <a:latin typeface="Calibri" panose="020F0502020204030204" pitchFamily="34" charset="0"/>
              </a:rPr>
              <a:t>AWS KMS — cert rotation every 90 days | S3 audit logs 7yr immutable</a:t>
            </a:r>
            <a:endParaRPr lang="en-US" sz="850" b="1" dirty="0">
              <a:solidFill>
                <a:srgbClr val="7D6608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Flow"/>
          <p:cNvSpPr/>
          <p:nvPr/>
        </p:nvSpPr>
        <p:spPr>
          <a:xfrm>
            <a:off x="182880" y="3207385"/>
            <a:ext cx="8731250" cy="389255"/>
          </a:xfrm>
          <a:prstGeom prst="rect">
            <a:avLst/>
          </a:prstGeom>
          <a:solidFill>
            <a:srgbClr val="1A2E4A"/>
          </a:solidFill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</a:rPr>
              <a:t>Full Flow: Exchange → [TLS 1.3] → FW#1/DMZ → [mTLS:9094] → Kafka (VLAN10) → [IPsec AES-256 VPN] → Logstash → Elasticsearch → Kibana</a:t>
            </a:r>
            <a:endParaRPr lang="en-US" sz="105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Legend"/>
          <p:cNvSpPr/>
          <p:nvPr/>
        </p:nvSpPr>
        <p:spPr>
          <a:xfrm>
            <a:off x="182880" y="3768090"/>
            <a:ext cx="8731250" cy="670560"/>
          </a:xfrm>
          <a:prstGeom prst="rect">
            <a:avLst/>
          </a:prstGeom>
          <a:solidFill>
            <a:srgbClr val="F2F3F4"/>
          </a:solidFill>
          <a:ln w="6350">
            <a:solidFill>
              <a:srgbClr val="AAAAAA"/>
            </a:solidFill>
          </a:ln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</a:rPr>
              <a:t>TRUST BOUNDARIES:  </a:t>
            </a: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</a:rPr>
              <a:t>■ Zone 1 = Untrusted Internet  </a:t>
            </a:r>
            <a:r>
              <a:rPr lang="en-US" sz="1050" dirty="0">
                <a:solidFill>
                  <a:srgbClr val="C0392B"/>
                </a:solidFill>
                <a:latin typeface="Calibri" panose="020F0502020204030204" pitchFamily="34" charset="0"/>
              </a:rPr>
              <a:t>■ Zone 2 = Semi-trusted DMZ (FW#1 separates from Z1)  </a:t>
            </a:r>
            <a:r>
              <a:rPr lang="en-US" sz="1050" dirty="0">
                <a:solidFill>
                  <a:srgbClr val="1F618D"/>
                </a:solidFill>
                <a:latin typeface="Calibri" panose="020F0502020204030204" pitchFamily="34" charset="0"/>
              </a:rPr>
              <a:t>■ Zone 3 = Trusted On-Prem (FW#2 separates from Z2)  </a:t>
            </a:r>
            <a:r>
              <a:rPr lang="en-US" sz="1050" dirty="0">
                <a:solidFill>
                  <a:srgbClr val="1E8449"/>
                </a:solidFill>
                <a:latin typeface="Calibri" panose="020F0502020204030204" pitchFamily="34" charset="0"/>
              </a:rPr>
              <a:t>■ Zone 4 = Cloud VPC (IPsec VPN tunnel AES-256 separates from Z3)</a:t>
            </a:r>
            <a:endParaRPr lang="en-US" sz="1050" dirty="0">
              <a:solidFill>
                <a:srgbClr val="1E844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</p:spPr>
        <p:txBody>
          <a:bodyPr wrap="square" lIns="228600" tIns="91440" rIns="228600" bIns="9144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anose="020F0502020204030204" pitchFamily="34" charset="0"/>
              </a:rPr>
              <a:t>DETAILED SECURITY ARCHITECTURE — KEY STORAGE, CERT ROTATION &amp; AUDIT LOGS</a:t>
            </a:r>
            <a:endParaRPr lang="en-US" sz="1600" b="1" kern="0" spc="100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KSHdr"/>
          <p:cNvSpPr/>
          <p:nvPr/>
        </p:nvSpPr>
        <p:spPr>
          <a:xfrm>
            <a:off x="182880" y="685800"/>
            <a:ext cx="2743200" cy="274320"/>
          </a:xfrm>
          <a:prstGeom prst="rect">
            <a:avLst/>
          </a:prstGeom>
          <a:solidFill>
            <a:srgbClr val="B7950B"/>
          </a:solidFill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charset="0"/>
                <a:cs typeface="Arial Black" panose="020B0A04020102020204" charset="0"/>
              </a:rPr>
              <a:t>🔑 KEY STORAGE</a:t>
            </a:r>
            <a:endParaRPr lang="en-US" sz="1000" b="1" dirty="0">
              <a:solidFill>
                <a:srgbClr val="FFFFFF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KSBox"/>
          <p:cNvSpPr/>
          <p:nvPr/>
        </p:nvSpPr>
        <p:spPr>
          <a:xfrm>
            <a:off x="182880" y="960120"/>
            <a:ext cx="2743200" cy="2447290"/>
          </a:xfrm>
          <a:prstGeom prst="rect">
            <a:avLst/>
          </a:prstGeom>
          <a:solidFill>
            <a:srgbClr val="FFFDE7"/>
          </a:solidFill>
          <a:ln w="9525">
            <a:solidFill>
              <a:srgbClr val="B7950B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7D6608"/>
                </a:solidFill>
                <a:latin typeface="Calibri" panose="020F0502020204030204" pitchFamily="34" charset="0"/>
              </a:rPr>
              <a:t>Where keys are stored:</a:t>
            </a:r>
            <a:endParaRPr lang="en-US" sz="900" b="1" dirty="0">
              <a:solidFill>
                <a:srgbClr val="7D6608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900" b="1" dirty="0">
              <a:solidFill>
                <a:srgbClr val="7D6608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AWS KMS (cloud) — all ELK stack TLS/mTLS private keys; access restricted to IAM roles only.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On-prem NVMe (10.0.3.0/24) — Kafka broker keystores (JKS format); AES-256 encrypted at rest.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HashiCorp Vault — dynamic secret injection for Kafka SASL/SCRAM credentials; no hardcoded passwords anywhere.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IPsec VPN pre-shared keys: stored in HSM (Hardware Security Module) — tamper-evident, FIPS 140-2 compliant.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RHdr"/>
          <p:cNvSpPr/>
          <p:nvPr/>
        </p:nvSpPr>
        <p:spPr>
          <a:xfrm>
            <a:off x="3108960" y="685800"/>
            <a:ext cx="2743200" cy="274320"/>
          </a:xfrm>
          <a:prstGeom prst="rect">
            <a:avLst/>
          </a:prstGeom>
          <a:solidFill>
            <a:srgbClr val="7D3C98"/>
          </a:solidFill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charset="0"/>
                <a:cs typeface="Arial Black" panose="020B0A04020102020204" charset="0"/>
              </a:rPr>
              <a:t>🔄 CERTIFICATE ROTATION</a:t>
            </a:r>
            <a:endParaRPr lang="en-US" sz="1000" b="1" dirty="0">
              <a:solidFill>
                <a:srgbClr val="FFFFFF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CRBox"/>
          <p:cNvSpPr/>
          <p:nvPr/>
        </p:nvSpPr>
        <p:spPr>
          <a:xfrm>
            <a:off x="3108960" y="960120"/>
            <a:ext cx="2743200" cy="2423160"/>
          </a:xfrm>
          <a:prstGeom prst="rect">
            <a:avLst/>
          </a:prstGeom>
          <a:solidFill>
            <a:srgbClr val="F5EEF8"/>
          </a:solidFill>
          <a:ln w="9525">
            <a:solidFill>
              <a:srgbClr val="7D3C98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7D3C98"/>
                </a:solidFill>
                <a:latin typeface="Calibri" panose="020F0502020204030204" pitchFamily="34" charset="0"/>
              </a:rPr>
              <a:t>How certificates are rotated:</a:t>
            </a:r>
            <a:endParaRPr lang="en-US" sz="900" b="1" dirty="0">
              <a:solidFill>
                <a:srgbClr val="7D3C98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AWS KMS auto-rotates ELK TLS certs every 90 days — zero manual intervention; old key versions retained for decrypt only.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Kafka mTLS certs: 90-day rotation via cert-manager (K8s operator); rolling restart — zero downtime, brokers negotiate new cert while old remains valid for in-flight connections.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Kibana HTTPS cert: Let's Encrypt auto-renewal via ACM (AWS Certificate Manager) — alerts 30 days before expiry.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Expiry monitoring: Kibana Watcher alert fires 30 days before any cert expiry — SOC ticket auto-created in JIRA.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ALHdr"/>
          <p:cNvSpPr/>
          <p:nvPr/>
        </p:nvSpPr>
        <p:spPr>
          <a:xfrm>
            <a:off x="6035040" y="685800"/>
            <a:ext cx="2926080" cy="274320"/>
          </a:xfrm>
          <a:prstGeom prst="rect">
            <a:avLst/>
          </a:prstGeom>
          <a:solidFill>
            <a:srgbClr val="1E8449"/>
          </a:solidFill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charset="0"/>
                <a:cs typeface="Arial Black" panose="020B0A04020102020204" charset="0"/>
              </a:rPr>
              <a:t>📋 AUDIT LOG LOCATIONS</a:t>
            </a:r>
            <a:endParaRPr lang="en-US" sz="1000" b="1" dirty="0">
              <a:solidFill>
                <a:srgbClr val="FFFFFF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ALBox"/>
          <p:cNvSpPr/>
          <p:nvPr/>
        </p:nvSpPr>
        <p:spPr>
          <a:xfrm>
            <a:off x="6035040" y="960120"/>
            <a:ext cx="2926080" cy="2423160"/>
          </a:xfrm>
          <a:prstGeom prst="rect">
            <a:avLst/>
          </a:prstGeom>
          <a:solidFill>
            <a:srgbClr val="EAFAF1"/>
          </a:solidFill>
          <a:ln w="9525">
            <a:solidFill>
              <a:srgbClr val="1E8449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anose="020F0502020204030204" pitchFamily="34" charset="0"/>
              </a:rPr>
              <a:t>What is logged, where:</a:t>
            </a:r>
            <a:endParaRPr lang="en-US" sz="900" b="1" dirty="0">
              <a:solidFill>
                <a:srgbClr val="1E8449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900" b="1" dirty="0">
              <a:solidFill>
                <a:srgbClr val="1E8449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Kafka broker access logs — NVMe local (10.0.3.0/24) + mirrored to S3 (immutable, 7yr) via Kafka MirrorMaker.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Elasticsearch security events — AWS CloudWatch Logs (real-time) + S3 Glacier (long-term archive); Object Lock prevents deletion.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Kill switch events — written to Elasticsearch index + simultaneously to WORM S3 bucket; forensic-grade tamper-proof record.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API access (Kibana/ES) — AWS CloudTrail; every read/write by IAM role timestamped; meets Reg SCI + MiFID II audit requirements.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9" name="WhyHdr"/>
          <p:cNvSpPr/>
          <p:nvPr/>
        </p:nvSpPr>
        <p:spPr>
          <a:xfrm>
            <a:off x="182880" y="3519565"/>
            <a:ext cx="8778240" cy="274320"/>
          </a:xfrm>
          <a:prstGeom prst="rect">
            <a:avLst/>
          </a:prstGeom>
          <a:solidFill>
            <a:srgbClr val="C0392B"/>
          </a:solidFill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charset="0"/>
                <a:cs typeface="Arial Black" panose="020B0A04020102020204" charset="0"/>
              </a:rPr>
              <a:t>POLICY JUSTIFICATIONS — WHY THESE SPECIFIC CHOICES?</a:t>
            </a:r>
            <a:endParaRPr lang="en-US" sz="1200" b="1" dirty="0">
              <a:solidFill>
                <a:srgbClr val="FFFFFF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0" name="Why1"/>
          <p:cNvSpPr/>
          <p:nvPr/>
        </p:nvSpPr>
        <p:spPr>
          <a:xfrm>
            <a:off x="182880" y="3930650"/>
            <a:ext cx="2880360" cy="978535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anose="020F0502020204030204" pitchFamily="34" charset="0"/>
              </a:rPr>
              <a:t>TLS 1.3 over TLS 1.2?</a:t>
            </a:r>
            <a:endParaRPr lang="en-US" sz="900" b="1" dirty="0">
              <a:solidFill>
                <a:srgbClr val="C0392B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</a:rPr>
              <a:t>TLS 1.2 supports weak ciphers (RC4, 3DES) — exploitable via POODLE/BEAST. TLS 1.3 removes all weak cipher suites entirely, mandates forward secrecy (ECDHE), and reduces handshake to 1-RTT — cutting latency while improving security. Critical in HFT where every microsecond counts.</a:t>
            </a:r>
            <a:endParaRPr lang="en-US" sz="85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Why2"/>
          <p:cNvSpPr/>
          <p:nvPr/>
        </p:nvSpPr>
        <p:spPr>
          <a:xfrm>
            <a:off x="3108960" y="3916680"/>
            <a:ext cx="2880360" cy="992505"/>
          </a:xfrm>
          <a:prstGeom prst="rect">
            <a:avLst/>
          </a:prstGeom>
          <a:solidFill>
            <a:srgbClr val="FEF9E7"/>
          </a:solidFill>
          <a:ln w="9525">
            <a:solidFill>
              <a:srgbClr val="B7950B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950B"/>
                </a:solidFill>
                <a:latin typeface="Calibri" panose="020F0502020204030204" pitchFamily="34" charset="0"/>
              </a:rPr>
              <a:t>Why sandbox testing for algo changes?</a:t>
            </a:r>
            <a:endParaRPr lang="en-US" sz="900" b="1" dirty="0">
              <a:solidFill>
                <a:srgbClr val="B7950B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</a:rPr>
              <a:t>The 2010 Flash Crash was triggered by an untested algo deployed directly to live markets — it created a self-reinforcing feedback loop. Sandbox testing with replayed historical Kafka data catches runaway execution before live deployment. Mandatory per our governance policy.</a:t>
            </a:r>
            <a:endParaRPr lang="en-US" sz="85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Why3"/>
          <p:cNvSpPr/>
          <p:nvPr/>
        </p:nvSpPr>
        <p:spPr>
          <a:xfrm>
            <a:off x="6035040" y="3930650"/>
            <a:ext cx="2926080" cy="979170"/>
          </a:xfrm>
          <a:prstGeom prst="rect">
            <a:avLst/>
          </a:prstGeom>
          <a:solidFill>
            <a:srgbClr val="EBF5FB"/>
          </a:solidFill>
          <a:ln w="9525">
            <a:solidFill>
              <a:srgbClr val="1F618D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F618D"/>
                </a:solidFill>
                <a:latin typeface="Calibri" panose="020F0502020204030204" pitchFamily="34" charset="0"/>
              </a:rPr>
              <a:t>Why Zero Trust + network segmentation?</a:t>
            </a:r>
            <a:endParaRPr lang="en-US" sz="900" b="1" dirty="0">
              <a:solidFill>
                <a:srgbClr val="1F618D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</a:rPr>
              <a:t>In HFT, a single compromised internal node can exfiltrate live order flow. Zero Trust means every connection is verified regardless of origin — no implicit trust for internal traffic. VLAN micro-segmentation ensures a breach in the Kafka VLAN cannot reach the FPGA engine VLAN, containing blast radius.</a:t>
            </a:r>
            <a:endParaRPr lang="en-US" sz="85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</p:spPr>
        <p:txBody>
          <a:bodyPr wrap="square" lIns="228600" tIns="91440" rIns="228600" bIns="9144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anose="020F0502020204030204" pitchFamily="34" charset="0"/>
              </a:rPr>
              <a:t>FAILURE &amp; RECOVERY DEEP-DIVE + FLASH CRASH — THE DEEPER "WHY"</a:t>
            </a:r>
            <a:endParaRPr lang="en-US" sz="1600" b="1" kern="0" spc="100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FDHdr"/>
          <p:cNvSpPr/>
          <p:nvPr/>
        </p:nvSpPr>
        <p:spPr>
          <a:xfrm>
            <a:off x="182880" y="685800"/>
            <a:ext cx="4206240" cy="274320"/>
          </a:xfrm>
          <a:prstGeom prst="rect">
            <a:avLst/>
          </a:prstGeom>
          <a:solidFill>
            <a:srgbClr val="1F618D"/>
          </a:solidFill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anose="020B0A04020102020204" charset="0"/>
                <a:cs typeface="Arial Black" panose="020B0A04020102020204" charset="0"/>
              </a:rPr>
              <a:t>FAILURE DETECTION — HEARTBEAT &amp; TIMEOUT SPECIFICS</a:t>
            </a:r>
            <a:endParaRPr lang="en-US" sz="900" b="1" dirty="0">
              <a:solidFill>
                <a:srgbClr val="FFFFFF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FDBox"/>
          <p:cNvSpPr/>
          <p:nvPr/>
        </p:nvSpPr>
        <p:spPr>
          <a:xfrm>
            <a:off x="182880" y="960120"/>
            <a:ext cx="4206240" cy="1527810"/>
          </a:xfrm>
          <a:prstGeom prst="rect">
            <a:avLst/>
          </a:prstGeom>
          <a:solidFill>
            <a:srgbClr val="EBF5FB"/>
          </a:solidFill>
          <a:ln w="9525">
            <a:solidFill>
              <a:srgbClr val="1F618D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Kafka broker heartbeat: sent every 100ms; if broker misses 5 consecutive heartbeats (500ms timeout) — ZooKeeper marks it dead and triggers leader re-election automatically.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Network failure detection: ELK Watcher monitors Kafka consumer lag every 250ms — if lag exceeds 5,000 messages OR latency spikes above 800µs, anomaly alert fires within 1 second.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75" b="1" dirty="0">
                <a:solidFill>
                  <a:srgbClr val="1A2E4A"/>
                </a:solidFill>
                <a:latin typeface="Calibri" panose="020F0502020204030204" pitchFamily="34" charset="0"/>
              </a:rPr>
              <a:t>FPGA hardware watchdog: if no valid tick received from exchange within 200ms — hardware kill signal sent; bypass mode activated to prevent stale data trading.</a:t>
            </a:r>
            <a:endParaRPr lang="en-US" sz="875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5" name="HSHdr"/>
          <p:cNvSpPr/>
          <p:nvPr/>
        </p:nvSpPr>
        <p:spPr>
          <a:xfrm>
            <a:off x="4663440" y="685800"/>
            <a:ext cx="4297680" cy="274320"/>
          </a:xfrm>
          <a:prstGeom prst="rect">
            <a:avLst/>
          </a:prstGeom>
          <a:solidFill>
            <a:srgbClr val="7D3C98"/>
          </a:solidFill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anose="020B0A04020102020204" charset="0"/>
                <a:cs typeface="Arial Black" panose="020B0A04020102020204" charset="0"/>
              </a:rPr>
              <a:t>HOT-STANDBY STATE REPLICATION &amp; AUTO-RESTORE</a:t>
            </a:r>
            <a:endParaRPr lang="en-US" sz="900" b="1" dirty="0">
              <a:solidFill>
                <a:srgbClr val="FFFFFF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HSBox"/>
          <p:cNvSpPr/>
          <p:nvPr/>
        </p:nvSpPr>
        <p:spPr>
          <a:xfrm>
            <a:off x="4663440" y="960120"/>
            <a:ext cx="4297680" cy="1527810"/>
          </a:xfrm>
          <a:prstGeom prst="rect">
            <a:avLst/>
          </a:prstGeom>
          <a:solidFill>
            <a:srgbClr val="F5EEF8"/>
          </a:solidFill>
          <a:ln w="9525">
            <a:solidFill>
              <a:srgbClr val="7D3C98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Char char="•"/>
            </a:pPr>
            <a:r>
              <a:rPr lang="en-US" sz="880" b="1" dirty="0">
                <a:solidFill>
                  <a:srgbClr val="1A2E4A"/>
                </a:solidFill>
                <a:latin typeface="Calibri" panose="020F0502020204030204" pitchFamily="34" charset="0"/>
              </a:rPr>
              <a:t>Hot-standby synced via Kafka replication factor 3: all 3 broker replicas receive every write simultaneously — state lag between primary and standby is consistently &lt;1ms.</a:t>
            </a:r>
            <a:endParaRPr lang="en-US" sz="88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8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80" b="1" dirty="0">
                <a:solidFill>
                  <a:srgbClr val="1A2E4A"/>
                </a:solidFill>
                <a:latin typeface="Calibri" panose="020F0502020204030204" pitchFamily="34" charset="0"/>
              </a:rPr>
              <a:t>Automated state restoration: on failover, standby node reads last committed Kafka offset from ZooKeeper — replays from that exact point; no manual steps, no data loss; typical restore time &lt;3 seconds.</a:t>
            </a:r>
            <a:endParaRPr lang="en-US" sz="88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endParaRPr lang="en-US" sz="880" b="1" dirty="0">
              <a:solidFill>
                <a:srgbClr val="1A2E4A"/>
              </a:solidFill>
              <a:latin typeface="Calibri" panose="020F0502020204030204" pitchFamily="34" charset="0"/>
            </a:endParaRPr>
          </a:p>
          <a:p>
            <a:pPr marL="0" indent="0">
              <a:buChar char="•"/>
            </a:pPr>
            <a:r>
              <a:rPr lang="en-US" sz="880" b="1" dirty="0">
                <a:solidFill>
                  <a:srgbClr val="1A2E4A"/>
                </a:solidFill>
                <a:latin typeface="Calibri" panose="020F0502020204030204" pitchFamily="34" charset="0"/>
              </a:rPr>
              <a:t>Secondary data centre: geographically separated; receives Kafka MirrorMaker replication every 500ms; full takeover in under 30 seconds if primary DC loses power.</a:t>
            </a:r>
            <a:endParaRPr lang="en-US" sz="880" b="1" dirty="0">
              <a:solidFill>
                <a:srgbClr val="1A2E4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FCHdr"/>
          <p:cNvSpPr/>
          <p:nvPr/>
        </p:nvSpPr>
        <p:spPr>
          <a:xfrm>
            <a:off x="182880" y="2650405"/>
            <a:ext cx="8778240" cy="274320"/>
          </a:xfrm>
          <a:prstGeom prst="rect">
            <a:avLst/>
          </a:prstGeom>
          <a:solidFill>
            <a:srgbClr val="C0392B"/>
          </a:solidFill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charset="0"/>
                <a:cs typeface="Arial Black" panose="020B0A04020102020204" charset="0"/>
              </a:rPr>
              <a:t>2010 FLASH CRASH — THE DEEPER "WHY": HOW OUR ARCHITECTURE DIRECTLY PREVENTS EACH ROOT CAUSE</a:t>
            </a:r>
            <a:endParaRPr lang="en-US" sz="1000" b="1" dirty="0">
              <a:solidFill>
                <a:srgbClr val="FFFFFF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FC1"/>
          <p:cNvSpPr/>
          <p:nvPr/>
        </p:nvSpPr>
        <p:spPr>
          <a:xfrm>
            <a:off x="182880" y="3087370"/>
            <a:ext cx="2880360" cy="1372235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anose="020F0502020204030204" pitchFamily="34" charset="0"/>
              </a:rPr>
              <a:t>Root Cause #1: No real-time visibility</a:t>
            </a:r>
            <a:endParaRPr lang="en-US" sz="900" b="1" dirty="0">
              <a:solidFill>
                <a:srgbClr val="C0392B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</a:rPr>
              <a:t>2010: No system monitored the cascade forming — HFT firms were blind until DJIA had already dropped 600 points. Humans couldn't react in milliseconds.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75" b="1" dirty="0">
                <a:solidFill>
                  <a:srgbClr val="1E8449"/>
                </a:solidFill>
                <a:latin typeface="Calibri" panose="020F0502020204030204" pitchFamily="34" charset="0"/>
              </a:rPr>
              <a:t>Our fix: Kafka + ELK detects volume and latency anomalies in &lt;1ms. Alert fires before the cascade can form. Machine speed vs machine speed.</a:t>
            </a:r>
            <a:endParaRPr lang="en-US" sz="875" b="1" dirty="0">
              <a:solidFill>
                <a:srgbClr val="1E8449"/>
              </a:solidFill>
              <a:latin typeface="Calibri" panose="020F0502020204030204" pitchFamily="34" charset="0"/>
            </a:endParaRPr>
          </a:p>
        </p:txBody>
      </p:sp>
      <p:sp>
        <p:nvSpPr>
          <p:cNvPr id="9" name="FC2"/>
          <p:cNvSpPr/>
          <p:nvPr/>
        </p:nvSpPr>
        <p:spPr>
          <a:xfrm>
            <a:off x="3108960" y="3087370"/>
            <a:ext cx="2880360" cy="1386840"/>
          </a:xfrm>
          <a:prstGeom prst="rect">
            <a:avLst/>
          </a:prstGeom>
          <a:solidFill>
            <a:srgbClr val="FEF9E7"/>
          </a:solidFill>
          <a:ln w="9525">
            <a:solidFill>
              <a:srgbClr val="B7950B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950B"/>
                </a:solidFill>
                <a:latin typeface="Calibri" panose="020F0502020204030204" pitchFamily="34" charset="0"/>
              </a:rPr>
              <a:t>Root Cause #2: No automated stop</a:t>
            </a:r>
            <a:endParaRPr lang="en-US" sz="900" b="1" dirty="0">
              <a:solidFill>
                <a:srgbClr val="B7950B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</a:rPr>
              <a:t>2010: Algos had no kill mechanism. They continued executing the $4.1B sell order even as prices collapsed — the feedback loop was self-reinforcing with no circuit breaker at the algo level.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75" b="1" dirty="0">
                <a:solidFill>
                  <a:srgbClr val="1E8449"/>
                </a:solidFill>
                <a:latin typeface="Calibri" panose="020F0502020204030204" pitchFamily="34" charset="0"/>
              </a:rPr>
              <a:t>Our fix: Hardware Kill Switch at FPGA level — algo disconnected from exchange in &lt;1ms on anomaly. Feedback loop physically impossible once kill switch fires.</a:t>
            </a:r>
            <a:endParaRPr lang="en-US" sz="875" b="1" dirty="0">
              <a:solidFill>
                <a:srgbClr val="1E8449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FC3"/>
          <p:cNvSpPr/>
          <p:nvPr/>
        </p:nvSpPr>
        <p:spPr>
          <a:xfrm>
            <a:off x="6035040" y="3087370"/>
            <a:ext cx="2926080" cy="1386840"/>
          </a:xfrm>
          <a:prstGeom prst="rect">
            <a:avLst/>
          </a:prstGeom>
          <a:solidFill>
            <a:srgbClr val="EBF5FB"/>
          </a:solidFill>
          <a:ln w="9525">
            <a:solidFill>
              <a:srgbClr val="1F618D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F618D"/>
                </a:solidFill>
                <a:latin typeface="Calibri" panose="020F0502020204030204" pitchFamily="34" charset="0"/>
              </a:rPr>
              <a:t>Root Cause #3: Untested algo deployed live</a:t>
            </a:r>
            <a:endParaRPr lang="en-US" sz="900" b="1" dirty="0">
              <a:solidFill>
                <a:srgbClr val="1F618D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</a:rPr>
              <a:t>2010: Waddell &amp; Reed's sell algorithm was not stress-tested for low-liquidity conditions. No sandbox environment validated its behaviour before deployment to live markets.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850" dirty="0">
              <a:solidFill>
                <a:srgbClr val="555555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75" b="1" dirty="0">
                <a:solidFill>
                  <a:srgbClr val="1E8449"/>
                </a:solidFill>
                <a:latin typeface="Calibri" panose="020F0502020204030204" pitchFamily="34" charset="0"/>
              </a:rPr>
              <a:t>Our fix: Mandatory sandbox testing with replayed historical Kafka data including the May 6 2010 scenario — algo cannot reach production without CISO sign-off.</a:t>
            </a:r>
            <a:endParaRPr lang="en-US" sz="875" b="1" dirty="0">
              <a:solidFill>
                <a:srgbClr val="1E844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347472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Q&amp;A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45920" y="86868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898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13716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&amp; Security coexist: Real-time Kafka streaming without sacrificing low-latency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6537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184708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 is feasible: Kafka + ELK enables real-time monitoring of suspicious patterns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4086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3232" y="2322576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Protection works: Kill Switch disconnects compromised algorithms instantly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81635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3232" y="2798064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Architecture: Exchange → Kafka → Logstash → Elasticsearch → Kibana → Kill Switch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9184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13232" y="327355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achieved: Fully aligns with Regulation SCI, MiFID II — CIA + Accountability</a:t>
            </a:r>
            <a:endParaRPr lang="en-US" sz="10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767328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13232" y="374904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lesson from Flash Crash: Automation &amp; monitoring are not optional — they are essential</a:t>
            </a:r>
            <a:endParaRPr lang="en-US" sz="1050" dirty="0"/>
          </a:p>
        </p:txBody>
      </p:sp>
      <p:sp>
        <p:nvSpPr>
          <p:cNvPr id="20" name="Shape 11"/>
          <p:cNvSpPr/>
          <p:nvPr/>
        </p:nvSpPr>
        <p:spPr>
          <a:xfrm>
            <a:off x="6309360" y="1280160"/>
            <a:ext cx="2606040" cy="27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6309360" y="1280160"/>
            <a:ext cx="26060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6400800" y="1417320"/>
            <a:ext cx="2423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is not an option in HFT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a prerequisite.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6583680" y="2514600"/>
            <a:ext cx="2057400" cy="365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6400800" y="260604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"Thank you for your time.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floor is open for technical questions."</a:t>
            </a:r>
            <a:endParaRPr lang="en-US" sz="950" dirty="0"/>
          </a:p>
        </p:txBody>
      </p:sp>
      <p:sp>
        <p:nvSpPr>
          <p:cNvPr id="25" name="Text 16"/>
          <p:cNvSpPr/>
          <p:nvPr/>
        </p:nvSpPr>
        <p:spPr>
          <a:xfrm>
            <a:off x="6400800" y="3480000"/>
            <a:ext cx="2423160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Anshra Subhaniee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EduQual Level 3 — Topic 32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164592" y="4800600"/>
            <a:ext cx="8814816" cy="365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4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Diploma in Cloud Cyber Security  |  EduQual Level 3  |  Topic 32  |  Cybersecurity in High-Frequency Finance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20028</Words>
  <Application>WPS Presentation</Application>
  <PresentationFormat>On-screen Show (16:9)</PresentationFormat>
  <Paragraphs>783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Microsoft YaHei</vt:lpstr>
      <vt:lpstr>Arial Unicode MS</vt:lpstr>
      <vt:lpstr>Arial Black</vt:lpstr>
      <vt:lpstr>Bahnschrift</vt:lpstr>
      <vt:lpstr>Cascadia Code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in High-Frequency Finance</dc:title>
  <dc:creator>Anshra Subhaniee</dc:creator>
  <dc:subject>PptxGenJS Presentation</dc:subject>
  <cp:lastModifiedBy>Anshra Subhaniee</cp:lastModifiedBy>
  <cp:revision>5</cp:revision>
  <dcterms:created xsi:type="dcterms:W3CDTF">2026-06-05T19:13:00Z</dcterms:created>
  <dcterms:modified xsi:type="dcterms:W3CDTF">2026-06-10T05:59:49Z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E8771246AEAD4584A2C3DA082FB55971_13</vt:lpwstr>
  </property>
  <property fmtid="{D5CDD505-2E9C-101B-9397-08002B2CF9AE}" pid="3" name="KSOProductBuildVer">
    <vt:lpwstr>1033-12.1.0.26880</vt:lpwstr>
  </property>
</Properties>
</file>